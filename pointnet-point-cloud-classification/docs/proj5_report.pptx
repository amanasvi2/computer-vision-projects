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 id="2147483680" r:id="rId3"/>
    <p:sldMasterId id="2147483750" r:id="rId4"/>
  </p:sldMasterIdLst>
  <p:sldIdLst>
    <p:sldId id="256" r:id="rId5"/>
    <p:sldId id="257" r:id="rId6"/>
    <p:sldId id="266" r:id="rId7"/>
    <p:sldId id="258" r:id="rId8"/>
    <p:sldId id="259" r:id="rId9"/>
    <p:sldId id="260" r:id="rId10"/>
    <p:sldId id="267" r:id="rId11"/>
    <p:sldId id="261" r:id="rId12"/>
    <p:sldId id="262" r:id="rId13"/>
    <p:sldId id="268" r:id="rId14"/>
    <p:sldId id="263" r:id="rId15"/>
    <p:sldId id="264" r:id="rId16"/>
  </p:sldIdLst>
  <p:sldSz cx="9144000" cy="5143500" type="screen16x9"/>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92F44D-58DC-6DBD-03E6-DE8CFCD6F78E}" v="5" dt="2026-04-01T23:25:04.838"/>
    <p1510:client id="{F19C0C1C-0972-AFD5-9C6F-19141FFF7AAA}" v="7" dt="2026-04-01T23:06:36.3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75"/>
    <p:restoredTop sz="94748"/>
  </p:normalViewPr>
  <p:slideViewPr>
    <p:cSldViewPr snapToGrid="0">
      <p:cViewPr varScale="1">
        <p:scale>
          <a:sx n="79" d="100"/>
          <a:sy n="79" d="100"/>
        </p:scale>
        <p:origin x="208" y="1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slideMaster" Target="slideMasters/slideMaster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6"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7"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8"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2" name="PlaceHolder 5"/>
          <p:cNvSpPr>
            <a:spLocks noGrp="1"/>
          </p:cNvSpPr>
          <p:nvPr>
            <p:ph type="sldNum" idx="1"/>
          </p:nvPr>
        </p:nvSpPr>
        <p:spPr/>
        <p:txBody>
          <a:bodyPr/>
          <a:lstStyle/>
          <a:p>
            <a:fld id="{FD0EB2C6-6512-4F37-9225-9FA59918FD0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lstStyle/>
          <a:p>
            <a:fld id="{343D579F-EF0B-4E25-97F9-15D830C68A7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TwoObj" preserve="1">
  <p:cSld name="Default 4">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102"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103"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104"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6" name="PlaceHolder 5"/>
          <p:cNvSpPr>
            <a:spLocks noGrp="1"/>
          </p:cNvSpPr>
          <p:nvPr>
            <p:ph type="sldNum" idx="17"/>
          </p:nvPr>
        </p:nvSpPr>
        <p:spPr/>
        <p:txBody>
          <a:bodyPr/>
          <a:lstStyle/>
          <a:p>
            <a:fld id="{ED450036-7BB5-4555-99A7-E17F51590597}"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AndTx" preserve="1">
  <p:cSld name="Default 4">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106"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107"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108"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6" name="PlaceHolder 5"/>
          <p:cNvSpPr>
            <a:spLocks noGrp="1"/>
          </p:cNvSpPr>
          <p:nvPr>
            <p:ph type="sldNum" idx="17"/>
          </p:nvPr>
        </p:nvSpPr>
        <p:spPr/>
        <p:txBody>
          <a:bodyPr/>
          <a:lstStyle/>
          <a:p>
            <a:fld id="{29BE0579-0E50-4E45-B773-73AC6813B67D}"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Default 4">
    <p:spTree>
      <p:nvGrpSpPr>
        <p:cNvPr id="1" name=""/>
        <p:cNvGrpSpPr/>
        <p:nvPr/>
      </p:nvGrpSpPr>
      <p:grpSpPr>
        <a:xfrm>
          <a:off x="0" y="0"/>
          <a:ext cx="0" cy="0"/>
          <a:chOff x="0" y="0"/>
          <a:chExt cx="0" cy="0"/>
        </a:xfrm>
      </p:grpSpPr>
      <p:sp>
        <p:nvSpPr>
          <p:cNvPr id="10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3" name="PlaceHolder 2"/>
          <p:cNvSpPr>
            <a:spLocks noGrp="1"/>
          </p:cNvSpPr>
          <p:nvPr>
            <p:ph type="sldNum" idx="17"/>
          </p:nvPr>
        </p:nvSpPr>
        <p:spPr/>
        <p:txBody>
          <a:bodyPr/>
          <a:lstStyle/>
          <a:p>
            <a:fld id="{615610D3-0427-4918-AD74-B38DD6B36624}"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fourObj" preserve="1">
  <p:cSld name="Default 4">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111"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112"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113"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114"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7" name="PlaceHolder 6"/>
          <p:cNvSpPr>
            <a:spLocks noGrp="1"/>
          </p:cNvSpPr>
          <p:nvPr>
            <p:ph type="sldNum" idx="17"/>
          </p:nvPr>
        </p:nvSpPr>
        <p:spPr/>
        <p:txBody>
          <a:bodyPr/>
          <a:lstStyle/>
          <a:p>
            <a:fld id="{CC4D4B20-4C06-44CE-A3DD-EDAA9746C63D}"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Default 4">
    <p:spTree>
      <p:nvGrpSpPr>
        <p:cNvPr id="1" name=""/>
        <p:cNvGrpSpPr/>
        <p:nvPr/>
      </p:nvGrpSpPr>
      <p:grpSpPr>
        <a:xfrm>
          <a:off x="0" y="0"/>
          <a:ext cx="0" cy="0"/>
          <a:chOff x="0" y="0"/>
          <a:chExt cx="0" cy="0"/>
        </a:xfrm>
      </p:grpSpPr>
      <p:sp>
        <p:nvSpPr>
          <p:cNvPr id="11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11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4" name="PlaceHolder 3"/>
          <p:cNvSpPr>
            <a:spLocks noGrp="1"/>
          </p:cNvSpPr>
          <p:nvPr>
            <p:ph type="sldNum" idx="17"/>
          </p:nvPr>
        </p:nvSpPr>
        <p:spPr/>
        <p:txBody>
          <a:bodyPr/>
          <a:lstStyle/>
          <a:p>
            <a:fld id="{37674BAB-A8CE-422A-A6BA-26A7F4FD58C8}"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OverTx" preserve="1">
  <p:cSld name="Default 4">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118"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119"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5" name="PlaceHolder 4"/>
          <p:cNvSpPr>
            <a:spLocks noGrp="1"/>
          </p:cNvSpPr>
          <p:nvPr>
            <p:ph type="sldNum" idx="17"/>
          </p:nvPr>
        </p:nvSpPr>
        <p:spPr/>
        <p:txBody>
          <a:bodyPr/>
          <a:lstStyle/>
          <a:p>
            <a:fld id="{5447A6A6-D399-4279-A504-FB16A2738FFA}"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efault 4">
    <p:spTree>
      <p:nvGrpSpPr>
        <p:cNvPr id="1" name=""/>
        <p:cNvGrpSpPr/>
        <p:nvPr/>
      </p:nvGrpSpPr>
      <p:grpSpPr>
        <a:xfrm>
          <a:off x="0" y="0"/>
          <a:ext cx="0" cy="0"/>
          <a:chOff x="0" y="0"/>
          <a:chExt cx="0" cy="0"/>
        </a:xfrm>
      </p:grpSpPr>
      <p:sp>
        <p:nvSpPr>
          <p:cNvPr id="12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121"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122"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5" name="PlaceHolder 4"/>
          <p:cNvSpPr>
            <a:spLocks noGrp="1"/>
          </p:cNvSpPr>
          <p:nvPr>
            <p:ph type="sldNum" idx="17"/>
          </p:nvPr>
        </p:nvSpPr>
        <p:spPr/>
        <p:txBody>
          <a:bodyPr/>
          <a:lstStyle/>
          <a:p>
            <a:fld id="{296E83CF-A919-44E6-A24A-5B2528618659}"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OverTx" preserve="1">
  <p:cSld name="Default 4">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124"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125"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126"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6" name="PlaceHolder 5"/>
          <p:cNvSpPr>
            <a:spLocks noGrp="1"/>
          </p:cNvSpPr>
          <p:nvPr>
            <p:ph type="sldNum" idx="17"/>
          </p:nvPr>
        </p:nvSpPr>
        <p:spPr/>
        <p:txBody>
          <a:bodyPr/>
          <a:lstStyle/>
          <a:p>
            <a:fld id="{709F6C80-2843-4794-81F4-D732777554FC}"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Default 4">
    <p:spTree>
      <p:nvGrpSpPr>
        <p:cNvPr id="1" name=""/>
        <p:cNvGrpSpPr/>
        <p:nvPr/>
      </p:nvGrpSpPr>
      <p:grpSpPr>
        <a:xfrm>
          <a:off x="0" y="0"/>
          <a:ext cx="0" cy="0"/>
          <a:chOff x="0" y="0"/>
          <a:chExt cx="0" cy="0"/>
        </a:xfrm>
      </p:grpSpPr>
      <p:sp>
        <p:nvSpPr>
          <p:cNvPr id="2" name="PlaceHolder 1"/>
          <p:cNvSpPr>
            <a:spLocks noGrp="1"/>
          </p:cNvSpPr>
          <p:nvPr>
            <p:ph type="sldNum" idx="17"/>
          </p:nvPr>
        </p:nvSpPr>
        <p:spPr/>
        <p:txBody>
          <a:bodyPr/>
          <a:lstStyle/>
          <a:p>
            <a:fld id="{4D81FF69-89A5-4C9A-8073-4419EF709585}"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Default 35">
    <p:spTree>
      <p:nvGrpSpPr>
        <p:cNvPr id="1" name=""/>
        <p:cNvGrpSpPr/>
        <p:nvPr/>
      </p:nvGrpSpPr>
      <p:grpSpPr>
        <a:xfrm>
          <a:off x="0" y="0"/>
          <a:ext cx="0" cy="0"/>
          <a:chOff x="0" y="0"/>
          <a:chExt cx="0" cy="0"/>
        </a:xfrm>
      </p:grpSpPr>
      <p:sp>
        <p:nvSpPr>
          <p:cNvPr id="32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330"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331"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5" name="PlaceHolder 4"/>
          <p:cNvSpPr>
            <a:spLocks noGrp="1"/>
          </p:cNvSpPr>
          <p:nvPr>
            <p:ph type="sldNum" idx="48"/>
          </p:nvPr>
        </p:nvSpPr>
        <p:spPr/>
        <p:txBody>
          <a:bodyPr/>
          <a:lstStyle/>
          <a:p>
            <a:fld id="{F3FB81C2-B579-4AF9-91E1-8F31E201B433}"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10" Type="http://schemas.openxmlformats.org/officeDocument/2006/relationships/theme" Target="../theme/theme3.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a:rPr>
              <a:t>Click to edit the title text format</a:t>
            </a:r>
          </a:p>
        </p:txBody>
      </p:sp>
      <p:sp>
        <p:nvSpPr>
          <p:cNvPr id="6" name="PlaceHolder 2"/>
          <p:cNvSpPr>
            <a:spLocks noGrp="1"/>
          </p:cNvSpPr>
          <p:nvPr>
            <p:ph type="body"/>
          </p:nvPr>
        </p:nvSpPr>
        <p:spPr>
          <a:xfrm>
            <a:off x="457200" y="1203480"/>
            <a:ext cx="4015440" cy="1422360"/>
          </a:xfrm>
          <a:prstGeom prst="rect">
            <a:avLst/>
          </a:prstGeom>
          <a:noFill/>
          <a:ln w="0">
            <a:noFill/>
          </a:ln>
        </p:spPr>
        <p:txBody>
          <a:bodyPr lIns="0" tIns="0" rIns="0" bIns="0" anchor="t">
            <a:normAutofit fontScale="62500" lnSpcReduction="19999"/>
          </a:bodyPr>
          <a:lstStyle/>
          <a:p>
            <a:pPr marL="432000" indent="-324000">
              <a:spcBef>
                <a:spcPts val="1417"/>
              </a:spcBef>
              <a:buClr>
                <a:srgbClr val="000000"/>
              </a:buClr>
              <a:buSzPct val="45000"/>
              <a:buFont typeface="Wingdings" charset="2"/>
              <a:buChar char=""/>
            </a:pPr>
            <a:r>
              <a:rPr lang="en-US" sz="18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uFillTx/>
                <a:latin typeface="Arial"/>
              </a:rPr>
              <a:t>Seventh Outline Level</a:t>
            </a:r>
          </a:p>
        </p:txBody>
      </p:sp>
      <p:sp>
        <p:nvSpPr>
          <p:cNvPr id="2" name="PlaceHolder 3"/>
          <p:cNvSpPr>
            <a:spLocks noGrp="1"/>
          </p:cNvSpPr>
          <p:nvPr>
            <p:ph type="body"/>
          </p:nvPr>
        </p:nvSpPr>
        <p:spPr>
          <a:xfrm>
            <a:off x="4674240" y="1203480"/>
            <a:ext cx="4015440" cy="1422360"/>
          </a:xfrm>
          <a:prstGeom prst="rect">
            <a:avLst/>
          </a:prstGeom>
          <a:noFill/>
          <a:ln w="0">
            <a:noFill/>
          </a:ln>
        </p:spPr>
        <p:txBody>
          <a:bodyPr lIns="0" tIns="0" rIns="0" bIns="0" anchor="t">
            <a:normAutofit fontScale="62500" lnSpcReduction="19999"/>
          </a:bodyPr>
          <a:lstStyle/>
          <a:p>
            <a:pPr marL="432000" indent="-324000">
              <a:spcBef>
                <a:spcPts val="1417"/>
              </a:spcBef>
              <a:buClr>
                <a:srgbClr val="000000"/>
              </a:buClr>
              <a:buSzPct val="45000"/>
              <a:buFont typeface="Wingdings" charset="2"/>
              <a:buChar char=""/>
            </a:pPr>
            <a:r>
              <a:rPr lang="en-US" sz="18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uFillTx/>
                <a:latin typeface="Arial"/>
              </a:rPr>
              <a:t>Seventh Outline Level</a:t>
            </a:r>
          </a:p>
        </p:txBody>
      </p:sp>
      <p:sp>
        <p:nvSpPr>
          <p:cNvPr id="3" name="PlaceHolder 4"/>
          <p:cNvSpPr>
            <a:spLocks noGrp="1"/>
          </p:cNvSpPr>
          <p:nvPr>
            <p:ph type="body"/>
          </p:nvPr>
        </p:nvSpPr>
        <p:spPr>
          <a:xfrm>
            <a:off x="457200" y="2761920"/>
            <a:ext cx="8228880" cy="1422360"/>
          </a:xfrm>
          <a:prstGeom prst="rect">
            <a:avLst/>
          </a:prstGeom>
          <a:noFill/>
          <a:ln w="0">
            <a:noFill/>
          </a:ln>
        </p:spPr>
        <p:txBody>
          <a:bodyPr lIns="0" tIns="0" rIns="0" bIns="0" anchor="t">
            <a:normAutofit fontScale="62500" lnSpcReduction="19999"/>
          </a:bodyPr>
          <a:lstStyle/>
          <a:p>
            <a:pPr marL="432000" indent="-324000">
              <a:spcBef>
                <a:spcPts val="1417"/>
              </a:spcBef>
              <a:buClr>
                <a:srgbClr val="000000"/>
              </a:buClr>
              <a:buSzPct val="45000"/>
              <a:buFont typeface="Wingdings" charset="2"/>
              <a:buChar char=""/>
            </a:pPr>
            <a:r>
              <a:rPr lang="en-US" sz="18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uFillTx/>
                <a:latin typeface="Arial"/>
              </a:rPr>
              <a:t>Seventh Outline Level</a:t>
            </a:r>
          </a:p>
        </p:txBody>
      </p:sp>
      <p:sp>
        <p:nvSpPr>
          <p:cNvPr id="4" name="PlaceHolder 5"/>
          <p:cNvSpPr>
            <a:spLocks noGrp="1"/>
          </p:cNvSpPr>
          <p:nvPr>
            <p:ph type="sldNum" idx="1"/>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 sz="1000" b="0" u="none" strike="noStrike">
                <a:solidFill>
                  <a:srgbClr val="595959"/>
                </a:solidFill>
                <a:uFillTx/>
                <a:latin typeface="Arial"/>
                <a:ea typeface="Arial"/>
              </a:defRPr>
            </a:lvl1pPr>
          </a:lstStyle>
          <a:p>
            <a:pPr indent="0" algn="r">
              <a:lnSpc>
                <a:spcPct val="100000"/>
              </a:lnSpc>
              <a:buNone/>
              <a:tabLst>
                <a:tab pos="0" algn="l"/>
              </a:tabLst>
            </a:pPr>
            <a:fld id="{B6D05250-76EB-4D54-A4A5-48FA9F21923E}" type="slidenum">
              <a:rPr lang="en" sz="1000" b="0" u="none" strike="noStrike">
                <a:solidFill>
                  <a:srgbClr val="595959"/>
                </a:solidFill>
                <a:uFillTx/>
                <a:latin typeface="Arial"/>
                <a:ea typeface="Arial"/>
              </a:rPr>
              <a:t>‹#›</a:t>
            </a:fld>
            <a:endParaRPr lang="en-US" sz="10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sldNum" idx="5"/>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 sz="1000" b="0" u="none" strike="noStrike">
                <a:solidFill>
                  <a:srgbClr val="595959"/>
                </a:solidFill>
                <a:uFillTx/>
                <a:latin typeface="Arial"/>
                <a:ea typeface="Arial"/>
              </a:defRPr>
            </a:lvl1pPr>
          </a:lstStyle>
          <a:p>
            <a:pPr indent="0" algn="r">
              <a:lnSpc>
                <a:spcPct val="100000"/>
              </a:lnSpc>
              <a:buNone/>
              <a:tabLst>
                <a:tab pos="0" algn="l"/>
              </a:tabLst>
            </a:pPr>
            <a:fld id="{17E9B5AC-AF13-4DE8-9426-E379D8573900}" type="slidenum">
              <a:rPr lang="en" sz="1000" b="0" u="none" strike="noStrike">
                <a:solidFill>
                  <a:srgbClr val="595959"/>
                </a:solidFill>
                <a:uFillTx/>
                <a:latin typeface="Arial"/>
                <a:ea typeface="Arial"/>
              </a:rPr>
              <a:t>‹#›</a:t>
            </a:fld>
            <a:endParaRPr lang="en-US" sz="1000" b="0" u="none" strike="noStrike">
              <a:solidFill>
                <a:srgbClr val="000000"/>
              </a:solidFill>
              <a:uFillTx/>
              <a:latin typeface="Times New Roman"/>
            </a:endParaRPr>
          </a:p>
        </p:txBody>
      </p:sp>
      <p:sp>
        <p:nvSpPr>
          <p:cNvPr id="29" name="PlaceHolder 2"/>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uFillTx/>
                <a:latin typeface="Arial"/>
              </a:rPr>
              <a:t>Click to edit the title text format</a:t>
            </a:r>
          </a:p>
        </p:txBody>
      </p:sp>
      <p:sp>
        <p:nvSpPr>
          <p:cNvPr id="30"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uFillTx/>
                <a:latin typeface="Arial"/>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PlaceHolder 1"/>
          <p:cNvSpPr>
            <a:spLocks noGrp="1"/>
          </p:cNvSpPr>
          <p:nvPr>
            <p:ph type="sldNum" idx="17"/>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 sz="1000" b="0" u="none" strike="noStrike">
                <a:solidFill>
                  <a:srgbClr val="595959"/>
                </a:solidFill>
                <a:uFillTx/>
                <a:latin typeface="Arial"/>
                <a:ea typeface="Arial"/>
              </a:defRPr>
            </a:lvl1pPr>
          </a:lstStyle>
          <a:p>
            <a:pPr indent="0" algn="r">
              <a:lnSpc>
                <a:spcPct val="100000"/>
              </a:lnSpc>
              <a:buNone/>
              <a:tabLst>
                <a:tab pos="0" algn="l"/>
              </a:tabLst>
            </a:pPr>
            <a:fld id="{E54C9FF3-BDD2-45D7-AD75-B822597BA4F4}" type="slidenum">
              <a:rPr lang="en" sz="1000" b="0" u="none" strike="noStrike">
                <a:solidFill>
                  <a:srgbClr val="595959"/>
                </a:solidFill>
                <a:uFillTx/>
                <a:latin typeface="Arial"/>
                <a:ea typeface="Arial"/>
              </a:rPr>
              <a:t>‹#›</a:t>
            </a:fld>
            <a:endParaRPr lang="en-US" sz="1000" b="0" u="none" strike="noStrike">
              <a:solidFill>
                <a:srgbClr val="000000"/>
              </a:solidFill>
              <a:uFillTx/>
              <a:latin typeface="Times New Roman"/>
            </a:endParaRPr>
          </a:p>
        </p:txBody>
      </p:sp>
      <p:sp>
        <p:nvSpPr>
          <p:cNvPr id="99" name="PlaceHolder 2"/>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uFillTx/>
                <a:latin typeface="Arial"/>
              </a:rPr>
              <a:t>Click to edit the title text format</a:t>
            </a:r>
          </a:p>
        </p:txBody>
      </p:sp>
      <p:sp>
        <p:nvSpPr>
          <p:cNvPr id="100"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uFillTx/>
                <a:latin typeface="Arial"/>
              </a:rPr>
              <a:t>Seventh Outline Level</a:t>
            </a:r>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5"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a:rPr>
              <a:t>Click to edit the title text format</a:t>
            </a:r>
          </a:p>
        </p:txBody>
      </p:sp>
      <p:sp>
        <p:nvSpPr>
          <p:cNvPr id="326" name="PlaceHolder 2"/>
          <p:cNvSpPr>
            <a:spLocks noGrp="1"/>
          </p:cNvSpPr>
          <p:nvPr>
            <p:ph type="body"/>
          </p:nvPr>
        </p:nvSpPr>
        <p:spPr>
          <a:xfrm>
            <a:off x="457200" y="1203480"/>
            <a:ext cx="4015440" cy="2982600"/>
          </a:xfrm>
          <a:prstGeom prst="rect">
            <a:avLst/>
          </a:prstGeom>
          <a:noFill/>
          <a:ln w="0">
            <a:noFill/>
          </a:ln>
        </p:spPr>
        <p:txBody>
          <a:bodyPr lIns="0" tIns="0" rIns="0" bIns="0" anchor="t">
            <a:normAutofit lnSpcReduction="9999"/>
          </a:bodyPr>
          <a:lstStyle/>
          <a:p>
            <a:pPr marL="432000" indent="-324000">
              <a:spcBef>
                <a:spcPts val="1417"/>
              </a:spcBef>
              <a:buClr>
                <a:srgbClr val="000000"/>
              </a:buClr>
              <a:buSzPct val="45000"/>
              <a:buFont typeface="Wingdings" charset="2"/>
              <a:buChar char=""/>
            </a:pPr>
            <a:r>
              <a:rPr lang="en-US" sz="18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uFillTx/>
                <a:latin typeface="Arial"/>
              </a:rPr>
              <a:t>Seventh Outline Level</a:t>
            </a:r>
          </a:p>
        </p:txBody>
      </p:sp>
      <p:sp>
        <p:nvSpPr>
          <p:cNvPr id="327" name="PlaceHolder 3"/>
          <p:cNvSpPr>
            <a:spLocks noGrp="1"/>
          </p:cNvSpPr>
          <p:nvPr>
            <p:ph type="body"/>
          </p:nvPr>
        </p:nvSpPr>
        <p:spPr>
          <a:xfrm>
            <a:off x="4674240" y="1203480"/>
            <a:ext cx="4015440" cy="2982600"/>
          </a:xfrm>
          <a:prstGeom prst="rect">
            <a:avLst/>
          </a:prstGeom>
          <a:noFill/>
          <a:ln w="0">
            <a:noFill/>
          </a:ln>
        </p:spPr>
        <p:txBody>
          <a:bodyPr lIns="0" tIns="0" rIns="0" bIns="0" anchor="t">
            <a:normAutofit lnSpcReduction="9999"/>
          </a:bodyPr>
          <a:lstStyle/>
          <a:p>
            <a:pPr marL="432000" indent="-324000">
              <a:spcBef>
                <a:spcPts val="1417"/>
              </a:spcBef>
              <a:buClr>
                <a:srgbClr val="000000"/>
              </a:buClr>
              <a:buSzPct val="45000"/>
              <a:buFont typeface="Wingdings" charset="2"/>
              <a:buChar char=""/>
            </a:pPr>
            <a:r>
              <a:rPr lang="en-US" sz="18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uFillTx/>
                <a:latin typeface="Arial"/>
              </a:rPr>
              <a:t>Seventh Outline Level</a:t>
            </a:r>
          </a:p>
        </p:txBody>
      </p:sp>
      <p:sp>
        <p:nvSpPr>
          <p:cNvPr id="328" name="PlaceHolder 4"/>
          <p:cNvSpPr>
            <a:spLocks noGrp="1"/>
          </p:cNvSpPr>
          <p:nvPr>
            <p:ph type="sldNum" idx="48"/>
          </p:nvPr>
        </p:nvSpPr>
        <p:spPr>
          <a:xfrm>
            <a:off x="8472600" y="4663080"/>
            <a:ext cx="546840" cy="391680"/>
          </a:xfrm>
          <a:prstGeom prst="rect">
            <a:avLst/>
          </a:prstGeom>
          <a:noFill/>
          <a:ln w="0">
            <a:noFill/>
          </a:ln>
        </p:spPr>
        <p:txBody>
          <a:bodyPr lIns="90000" tIns="91440" rIns="90000" bIns="91440" anchor="ctr">
            <a:noAutofit/>
          </a:bodyPr>
          <a:lstStyle>
            <a:lvl1pPr indent="0" algn="r">
              <a:lnSpc>
                <a:spcPct val="100000"/>
              </a:lnSpc>
              <a:buNone/>
              <a:tabLst>
                <a:tab pos="0" algn="l"/>
              </a:tabLst>
              <a:defRPr lang="en" sz="1000" b="0" u="none" strike="noStrike">
                <a:solidFill>
                  <a:srgbClr val="595959"/>
                </a:solidFill>
                <a:uFillTx/>
                <a:latin typeface="Arial"/>
                <a:ea typeface="Arial"/>
              </a:defRPr>
            </a:lvl1pPr>
          </a:lstStyle>
          <a:p>
            <a:pPr indent="0" algn="r">
              <a:lnSpc>
                <a:spcPct val="100000"/>
              </a:lnSpc>
              <a:buNone/>
              <a:tabLst>
                <a:tab pos="0" algn="l"/>
              </a:tabLst>
            </a:pPr>
            <a:fld id="{7F39B974-A99F-4C39-82A6-7EDA94177A63}" type="slidenum">
              <a:rPr lang="en" sz="1000" b="0" u="none" strike="noStrike">
                <a:solidFill>
                  <a:srgbClr val="595959"/>
                </a:solidFill>
                <a:uFillTx/>
                <a:latin typeface="Arial"/>
                <a:ea typeface="Arial"/>
              </a:rPr>
              <a:t>‹#›</a:t>
            </a:fld>
            <a:endParaRPr lang="en-US" sz="1000" b="0" u="none" strike="noStrike">
              <a:solidFill>
                <a:srgbClr val="000000"/>
              </a:solidFill>
              <a:uFillTx/>
              <a:latin typeface="Times New Roman"/>
            </a:endParaRPr>
          </a:p>
        </p:txBody>
      </p:sp>
    </p:spTree>
  </p:cSld>
  <p:clrMap bg1="lt1" tx1="dk1" bg2="lt2" tx2="dk2" accent1="accent1" accent2="accent2" accent3="accent3" accent4="accent4" accent5="accent5" accent6="accent6" hlink="hlink" folHlink="folHlink"/>
  <p:sldLayoutIdLst>
    <p:sldLayoutId id="21474837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Google Shape;58;p1"/>
          <p:cNvSpPr/>
          <p:nvPr/>
        </p:nvSpPr>
        <p:spPr>
          <a:xfrm>
            <a:off x="311760" y="230400"/>
            <a:ext cx="8517600" cy="20498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b">
            <a:noAutofit/>
          </a:bodyPr>
          <a:lstStyle/>
          <a:p>
            <a:pPr algn="ctr">
              <a:lnSpc>
                <a:spcPct val="100000"/>
              </a:lnSpc>
              <a:tabLst>
                <a:tab pos="0" algn="l"/>
              </a:tabLst>
            </a:pPr>
            <a:r>
              <a:rPr lang="en" sz="5200" b="0" u="none" strike="noStrike">
                <a:solidFill>
                  <a:srgbClr val="000000"/>
                </a:solidFill>
                <a:uFillTx/>
                <a:latin typeface="Arial"/>
                <a:ea typeface="Arial"/>
              </a:rPr>
              <a:t>CS 4476 Project 5</a:t>
            </a:r>
            <a:endParaRPr lang="en-US" sz="5200" b="0" u="none" strike="noStrike">
              <a:solidFill>
                <a:srgbClr val="000000"/>
              </a:solidFill>
              <a:uFillTx/>
              <a:latin typeface="Arial"/>
            </a:endParaRPr>
          </a:p>
        </p:txBody>
      </p:sp>
      <p:sp>
        <p:nvSpPr>
          <p:cNvPr id="355" name="Google Shape;59;p1"/>
          <p:cNvSpPr/>
          <p:nvPr/>
        </p:nvSpPr>
        <p:spPr>
          <a:xfrm>
            <a:off x="311760" y="2320200"/>
            <a:ext cx="8517600" cy="17946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gn="ctr">
              <a:lnSpc>
                <a:spcPct val="100000"/>
              </a:lnSpc>
              <a:tabLst>
                <a:tab pos="0" algn="l"/>
              </a:tabLst>
            </a:pPr>
            <a:r>
              <a:rPr lang="en-US" sz="2800" b="0" u="none" strike="noStrike" dirty="0">
                <a:solidFill>
                  <a:srgbClr val="595959"/>
                </a:solidFill>
                <a:uFillTx/>
                <a:latin typeface="Arial"/>
                <a:ea typeface="Arial"/>
              </a:rPr>
              <a:t>Archita Manasvi</a:t>
            </a:r>
            <a:endParaRPr lang="en-US" sz="2800" b="0" u="none" strike="noStrike" dirty="0">
              <a:solidFill>
                <a:srgbClr val="000000"/>
              </a:solidFill>
              <a:uFillTx/>
              <a:latin typeface="Arial"/>
            </a:endParaRPr>
          </a:p>
          <a:p>
            <a:pPr algn="ctr">
              <a:lnSpc>
                <a:spcPct val="100000"/>
              </a:lnSpc>
              <a:tabLst>
                <a:tab pos="0" algn="l"/>
              </a:tabLst>
            </a:pPr>
            <a:r>
              <a:rPr lang="en-US" sz="2800" b="0" u="none" strike="noStrike" dirty="0">
                <a:solidFill>
                  <a:srgbClr val="595959"/>
                </a:solidFill>
                <a:uFillTx/>
                <a:latin typeface="Arial"/>
                <a:ea typeface="Arial"/>
              </a:rPr>
              <a:t>amanasvi7@gatech.edu</a:t>
            </a:r>
            <a:endParaRPr lang="en-US" sz="2800" b="0" u="none" strike="noStrike" dirty="0">
              <a:solidFill>
                <a:srgbClr val="000000"/>
              </a:solidFill>
              <a:uFillTx/>
              <a:latin typeface="Arial"/>
            </a:endParaRPr>
          </a:p>
          <a:p>
            <a:pPr algn="ctr">
              <a:lnSpc>
                <a:spcPct val="100000"/>
              </a:lnSpc>
              <a:tabLst>
                <a:tab pos="0" algn="l"/>
              </a:tabLst>
            </a:pPr>
            <a:r>
              <a:rPr lang="en-US" sz="2800" b="0" u="none" strike="noStrike" dirty="0">
                <a:solidFill>
                  <a:srgbClr val="595959"/>
                </a:solidFill>
                <a:uFillTx/>
                <a:latin typeface="Arial"/>
                <a:ea typeface="Arial"/>
              </a:rPr>
              <a:t>amanasvi7</a:t>
            </a:r>
            <a:endParaRPr lang="en-US" sz="2800" b="0" u="none" strike="noStrike" dirty="0">
              <a:solidFill>
                <a:srgbClr val="000000"/>
              </a:solidFill>
              <a:uFillTx/>
              <a:latin typeface="Arial"/>
            </a:endParaRPr>
          </a:p>
          <a:p>
            <a:pPr algn="ctr">
              <a:lnSpc>
                <a:spcPct val="100000"/>
              </a:lnSpc>
              <a:tabLst>
                <a:tab pos="0" algn="l"/>
              </a:tabLst>
            </a:pPr>
            <a:r>
              <a:rPr lang="en" sz="2800" dirty="0">
                <a:solidFill>
                  <a:srgbClr val="595959"/>
                </a:solidFill>
                <a:latin typeface="Arial"/>
              </a:rPr>
              <a:t>903854944</a:t>
            </a:r>
            <a:endParaRPr lang="en-US" sz="2800" b="0" u="none" strike="noStrike" dirty="0">
              <a:solidFill>
                <a:srgbClr val="000000"/>
              </a:solidFill>
              <a:uFillTx/>
              <a:latin typeface="Arial"/>
            </a:endParaRPr>
          </a:p>
        </p:txBody>
      </p:sp>
      <p:sp>
        <p:nvSpPr>
          <p:cNvPr id="356" name="PlaceHolder 4"/>
          <p:cNvSpPr/>
          <p:nvPr/>
        </p:nvSpPr>
        <p:spPr>
          <a:xfrm>
            <a:off x="685800" y="230400"/>
            <a:ext cx="7772040" cy="360"/>
          </a:xfrm>
          <a:prstGeom prst="rect">
            <a:avLst/>
          </a:prstGeom>
          <a:noFill/>
          <a:ln w="0">
            <a:noFill/>
          </a:ln>
        </p:spPr>
        <p:style>
          <a:lnRef idx="0">
            <a:scrgbClr r="0" g="0" b="0"/>
          </a:lnRef>
          <a:fillRef idx="0">
            <a:scrgbClr r="0" g="0" b="0"/>
          </a:fillRef>
          <a:effectRef idx="0">
            <a:scrgbClr r="0" g="0" b="0"/>
          </a:effectRef>
          <a:fontRef idx="minor"/>
        </p:style>
        <p:txBody>
          <a:bodyPr lIns="0" tIns="-90720" rIns="0" bIns="-90720" anchor="t">
            <a:noAutofit/>
          </a:bodyPr>
          <a:lstStyle/>
          <a:p>
            <a:pPr algn="ctr">
              <a:tabLst>
                <a:tab pos="0" algn="l"/>
              </a:tabLst>
            </a:pPr>
            <a:r>
              <a:rPr lang="en" sz="1600" b="0" u="none" strike="noStrike">
                <a:solidFill>
                  <a:srgbClr val="C9211E"/>
                </a:solidFill>
                <a:uFillTx/>
                <a:latin typeface="Arial"/>
                <a:ea typeface="Arial"/>
                <a:cs typeface="Arial"/>
              </a:rPr>
              <a:t>Warning: Do not delete slides.</a:t>
            </a:r>
            <a:br>
              <a:rPr lang="en" sz="1600" dirty="0">
                <a:solidFill>
                  <a:srgbClr val="C9211E"/>
                </a:solidFill>
                <a:cs typeface="Arial"/>
              </a:rPr>
            </a:br>
            <a:r>
              <a:rPr lang="en" sz="1600" dirty="0">
                <a:solidFill>
                  <a:srgbClr val="C9211E"/>
                </a:solidFill>
                <a:latin typeface="Arial"/>
                <a:cs typeface="Arial"/>
              </a:rPr>
              <a:t> </a:t>
            </a:r>
            <a:r>
              <a:rPr lang="en" sz="1600" b="1" u="none" strike="noStrike">
                <a:solidFill>
                  <a:srgbClr val="C9211E"/>
                </a:solidFill>
                <a:uFillTx/>
                <a:latin typeface="Arial"/>
                <a:ea typeface="Arial"/>
                <a:cs typeface="Arial"/>
              </a:rPr>
              <a:t>This includes extra credit slides and any problems you do not complete</a:t>
            </a:r>
            <a:r>
              <a:rPr lang="en" sz="1600" b="0" u="none" strike="noStrike">
                <a:solidFill>
                  <a:srgbClr val="C9211E"/>
                </a:solidFill>
                <a:uFillTx/>
                <a:latin typeface="Arial"/>
                <a:ea typeface="Arial"/>
                <a:cs typeface="Arial"/>
              </a:rPr>
              <a:t>. </a:t>
            </a:r>
            <a:r>
              <a:rPr lang="en" sz="1600">
                <a:solidFill>
                  <a:srgbClr val="C9211E"/>
                </a:solidFill>
                <a:latin typeface="Arial"/>
                <a:ea typeface="Arial"/>
                <a:cs typeface="Arial"/>
              </a:rPr>
              <a:t>Failure to follow this will result in penalty</a:t>
            </a:r>
            <a:endParaRPr lang="en-US"/>
          </a:p>
          <a:p>
            <a:pPr algn="ctr">
              <a:tabLst>
                <a:tab pos="0" algn="l"/>
              </a:tabLst>
            </a:pPr>
            <a:endParaRPr lang="en" sz="1600" dirty="0">
              <a:solidFill>
                <a:srgbClr val="C9211E"/>
              </a:solidFill>
              <a:latin typeface="Arial"/>
              <a:cs typeface="Arial"/>
            </a:endParaRPr>
          </a:p>
          <a:p>
            <a:pPr algn="ctr">
              <a:tabLst>
                <a:tab pos="0" algn="l"/>
              </a:tabLst>
            </a:pPr>
            <a:r>
              <a:rPr lang="en" sz="1600" b="1" u="none" strike="noStrike">
                <a:solidFill>
                  <a:srgbClr val="C9211E"/>
                </a:solidFill>
                <a:uFillTx/>
                <a:latin typeface="Arial"/>
                <a:cs typeface="Arial"/>
              </a:rPr>
              <a:t>NOTE: </a:t>
            </a:r>
            <a:r>
              <a:rPr lang="en" sz="1600" u="none" strike="noStrike">
                <a:solidFill>
                  <a:srgbClr val="C9211E"/>
                </a:solidFill>
                <a:uFillTx/>
                <a:latin typeface="Arial"/>
                <a:cs typeface="Arial"/>
              </a:rPr>
              <a:t>You will not need to select pages for the report submission of Gradescope</a:t>
            </a:r>
            <a:endParaRPr lang="en"/>
          </a:p>
          <a:p>
            <a:pPr marL="228600" indent="-228600" algn="ctr">
              <a:spcBef>
                <a:spcPts val="1001"/>
              </a:spcBef>
              <a:tabLst>
                <a:tab pos="0" algn="l"/>
              </a:tabLst>
            </a:pPr>
            <a:endParaRPr lang="en" sz="1600" u="none" strike="noStrike" dirty="0">
              <a:solidFill>
                <a:srgbClr val="C9211E"/>
              </a:solidFill>
              <a:uFillTx/>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 sz="2800" b="0" u="none" strike="noStrike">
                <a:solidFill>
                  <a:srgbClr val="000000"/>
                </a:solidFill>
                <a:uFillTx/>
                <a:latin typeface="Arial"/>
                <a:ea typeface="Arial"/>
              </a:rPr>
              <a:t>Part 2: Voxel Baseline Model</a:t>
            </a:r>
            <a:endParaRPr lang="en-US" sz="2800" b="0" u="none" strike="noStrike">
              <a:solidFill>
                <a:srgbClr val="000000"/>
              </a:solidFill>
              <a:uFillTx/>
              <a:latin typeface="Arial"/>
            </a:endParaRPr>
          </a:p>
        </p:txBody>
      </p:sp>
      <p:sp>
        <p:nvSpPr>
          <p:cNvPr id="358" name="PlaceHolder 2"/>
          <p:cNvSpPr>
            <a:spLocks noGrp="1"/>
          </p:cNvSpPr>
          <p:nvPr>
            <p:ph/>
          </p:nvPr>
        </p:nvSpPr>
        <p:spPr>
          <a:xfrm>
            <a:off x="311760" y="1152360"/>
            <a:ext cx="1974240" cy="3414600"/>
          </a:xfrm>
          <a:prstGeom prst="rect">
            <a:avLst/>
          </a:prstGeom>
          <a:noFill/>
          <a:ln w="0">
            <a:noFill/>
          </a:ln>
        </p:spPr>
        <p:txBody>
          <a:bodyPr lIns="0" tIns="91440" rIns="0" bIns="91440" anchor="t">
            <a:normAutofit/>
          </a:bodyPr>
          <a:lstStyle/>
          <a:p>
            <a:pPr indent="0">
              <a:lnSpc>
                <a:spcPct val="115000"/>
              </a:lnSpc>
              <a:spcAft>
                <a:spcPts val="1199"/>
              </a:spcAft>
              <a:buNone/>
              <a:tabLst>
                <a:tab pos="0" algn="l"/>
              </a:tabLst>
            </a:pPr>
            <a:r>
              <a:rPr lang="en" sz="1400" b="1" u="none" strike="noStrike" dirty="0">
                <a:solidFill>
                  <a:srgbClr val="595959"/>
                </a:solidFill>
                <a:uFillTx/>
                <a:latin typeface="Arial"/>
                <a:ea typeface="Arial"/>
              </a:rPr>
              <a:t>insert confusion matrix for baseline model on test dataset</a:t>
            </a:r>
            <a:endParaRPr lang="en-US" sz="1400" b="1" u="none" strike="noStrike" dirty="0">
              <a:solidFill>
                <a:srgbClr val="000000"/>
              </a:solidFill>
              <a:uFillTx/>
              <a:latin typeface="Arial"/>
            </a:endParaRPr>
          </a:p>
        </p:txBody>
      </p:sp>
      <p:pic>
        <p:nvPicPr>
          <p:cNvPr id="2" name="Picture 1">
            <a:extLst>
              <a:ext uri="{FF2B5EF4-FFF2-40B4-BE49-F238E27FC236}">
                <a16:creationId xmlns:a16="http://schemas.microsoft.com/office/drawing/2014/main" id="{E6D1AD7E-0F8D-D996-E5F2-01614D141BD3}"/>
              </a:ext>
            </a:extLst>
          </p:cNvPr>
          <p:cNvPicPr>
            <a:picLocks noChangeAspect="1"/>
          </p:cNvPicPr>
          <p:nvPr/>
        </p:nvPicPr>
        <p:blipFill>
          <a:blip r:embed="rId2"/>
          <a:stretch>
            <a:fillRect/>
          </a:stretch>
        </p:blipFill>
        <p:spPr>
          <a:xfrm>
            <a:off x="2286000" y="1019812"/>
            <a:ext cx="4208537" cy="41236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 sz="2800" b="0" u="none" strike="noStrike">
                <a:solidFill>
                  <a:srgbClr val="000000"/>
                </a:solidFill>
                <a:uFillTx/>
                <a:latin typeface="Arial"/>
                <a:ea typeface="Arial"/>
              </a:rPr>
              <a:t>Part 2: Voxel Baseline Model</a:t>
            </a:r>
            <a:endParaRPr lang="en-US" sz="2800" b="0" u="none" strike="noStrike">
              <a:solidFill>
                <a:srgbClr val="000000"/>
              </a:solidFill>
              <a:uFillTx/>
              <a:latin typeface="Arial"/>
            </a:endParaRPr>
          </a:p>
        </p:txBody>
      </p:sp>
      <p:sp>
        <p:nvSpPr>
          <p:cNvPr id="358" name="PlaceHolder 2"/>
          <p:cNvSpPr>
            <a:spLocks noGrp="1"/>
          </p:cNvSpPr>
          <p:nvPr>
            <p:ph/>
          </p:nvPr>
        </p:nvSpPr>
        <p:spPr>
          <a:xfrm>
            <a:off x="311760" y="1152360"/>
            <a:ext cx="8518680" cy="3414600"/>
          </a:xfrm>
          <a:prstGeom prst="rect">
            <a:avLst/>
          </a:prstGeom>
          <a:noFill/>
          <a:ln w="0">
            <a:noFill/>
          </a:ln>
        </p:spPr>
        <p:txBody>
          <a:bodyPr lIns="0" tIns="91440" rIns="0" bIns="91440" anchor="t">
            <a:normAutofit/>
          </a:bodyPr>
          <a:lstStyle/>
          <a:p>
            <a:pPr indent="0">
              <a:lnSpc>
                <a:spcPct val="115000"/>
              </a:lnSpc>
              <a:spcAft>
                <a:spcPts val="1199"/>
              </a:spcAft>
              <a:buNone/>
              <a:tabLst>
                <a:tab pos="0" algn="l"/>
              </a:tabLst>
            </a:pPr>
            <a:r>
              <a:rPr lang="en" sz="1400" b="1" dirty="0">
                <a:solidFill>
                  <a:srgbClr val="595959"/>
                </a:solidFill>
                <a:latin typeface="Arial"/>
                <a:ea typeface="Arial"/>
              </a:rPr>
              <a:t>What are the top confusion pairs in the matrix and why might this be the case?</a:t>
            </a:r>
            <a:endParaRPr lang="en" sz="1400" b="1" u="none" strike="noStrike" dirty="0">
              <a:solidFill>
                <a:srgbClr val="595959"/>
              </a:solidFill>
              <a:uFillTx/>
              <a:latin typeface="Arial"/>
              <a:ea typeface="Arial"/>
            </a:endParaRPr>
          </a:p>
          <a:p>
            <a:pPr indent="0">
              <a:lnSpc>
                <a:spcPct val="115000"/>
              </a:lnSpc>
              <a:spcAft>
                <a:spcPts val="1199"/>
              </a:spcAft>
              <a:buNone/>
              <a:tabLst>
                <a:tab pos="0" algn="l"/>
              </a:tabLst>
            </a:pPr>
            <a:r>
              <a:rPr lang="en" sz="1400" dirty="0">
                <a:solidFill>
                  <a:schemeClr val="tx1">
                    <a:lumMod val="50000"/>
                    <a:lumOff val="50000"/>
                  </a:schemeClr>
                </a:solidFill>
                <a:latin typeface="Arial"/>
              </a:rPr>
              <a:t>T</a:t>
            </a:r>
            <a:r>
              <a:rPr lang="en-US" sz="1400" dirty="0">
                <a:solidFill>
                  <a:schemeClr val="tx1">
                    <a:lumMod val="50000"/>
                    <a:lumOff val="50000"/>
                  </a:schemeClr>
                </a:solidFill>
                <a:latin typeface="Arial"/>
              </a:rPr>
              <a:t>h</a:t>
            </a:r>
            <a:r>
              <a:rPr lang="en" sz="1400" dirty="0">
                <a:solidFill>
                  <a:schemeClr val="tx1">
                    <a:lumMod val="50000"/>
                    <a:lumOff val="50000"/>
                  </a:schemeClr>
                </a:solidFill>
                <a:latin typeface="Arial"/>
              </a:rPr>
              <a:t>e main confusion pairs are regular vehicle/large vehicle and wheeled rider/bicyclist. T</a:t>
            </a:r>
            <a:r>
              <a:rPr lang="en-US" sz="1400" dirty="0">
                <a:solidFill>
                  <a:schemeClr val="tx1">
                    <a:lumMod val="50000"/>
                    <a:lumOff val="50000"/>
                  </a:schemeClr>
                </a:solidFill>
                <a:latin typeface="Arial"/>
              </a:rPr>
              <a:t>h</a:t>
            </a:r>
            <a:r>
              <a:rPr lang="en" sz="1400" dirty="0">
                <a:solidFill>
                  <a:schemeClr val="tx1">
                    <a:lumMod val="50000"/>
                    <a:lumOff val="50000"/>
                  </a:schemeClr>
                </a:solidFill>
                <a:latin typeface="Arial"/>
              </a:rPr>
              <a:t>ese classes have pretty similar spatial footprints in a 4x4x4m grid. Large vehicles fill many of the voxels in similar rectangular patterns, while the bicyclists are small and sparse, so the coarse 1m^3 voxel resolution can’t capture the geometric differences between these pairs.</a:t>
            </a:r>
            <a:endParaRPr lang="en" sz="1400" b="0" u="none" strike="noStrike" dirty="0">
              <a:solidFill>
                <a:schemeClr val="tx1">
                  <a:lumMod val="50000"/>
                  <a:lumOff val="50000"/>
                </a:schemeClr>
              </a:solidFill>
              <a:uFillTx/>
              <a:latin typeface="Arial"/>
            </a:endParaRPr>
          </a:p>
          <a:p>
            <a:pPr indent="0">
              <a:lnSpc>
                <a:spcPct val="115000"/>
              </a:lnSpc>
              <a:spcAft>
                <a:spcPts val="1199"/>
              </a:spcAft>
              <a:buNone/>
              <a:tabLst>
                <a:tab pos="0" algn="l"/>
              </a:tabLst>
            </a:pPr>
            <a:r>
              <a:rPr lang="en" sz="1400" b="1" dirty="0">
                <a:solidFill>
                  <a:srgbClr val="595959"/>
                </a:solidFill>
                <a:latin typeface="Arial"/>
                <a:ea typeface="Arial"/>
              </a:rPr>
              <a:t>To which classes would adding finer geometry help the most and why?</a:t>
            </a:r>
            <a:endParaRPr lang="en-US" sz="1400" b="1" u="none" strike="noStrike" dirty="0">
              <a:solidFill>
                <a:srgbClr val="000000"/>
              </a:solidFill>
              <a:uFillTx/>
              <a:latin typeface="Arial"/>
            </a:endParaRPr>
          </a:p>
          <a:p>
            <a:pPr indent="0">
              <a:lnSpc>
                <a:spcPct val="115000"/>
              </a:lnSpc>
              <a:spcAft>
                <a:spcPts val="1199"/>
              </a:spcAft>
              <a:buNone/>
              <a:tabLst>
                <a:tab pos="0" algn="l"/>
              </a:tabLst>
            </a:pPr>
            <a:r>
              <a:rPr lang="en" sz="1400" dirty="0">
                <a:solidFill>
                  <a:schemeClr val="tx1">
                    <a:lumMod val="50000"/>
                    <a:lumOff val="50000"/>
                  </a:schemeClr>
                </a:solidFill>
                <a:latin typeface="Arial"/>
              </a:rPr>
              <a:t>T</a:t>
            </a:r>
            <a:r>
              <a:rPr lang="en-US" sz="1400" dirty="0">
                <a:solidFill>
                  <a:schemeClr val="tx1">
                    <a:lumMod val="50000"/>
                    <a:lumOff val="50000"/>
                  </a:schemeClr>
                </a:solidFill>
                <a:latin typeface="Arial"/>
              </a:rPr>
              <a:t>h</a:t>
            </a:r>
            <a:r>
              <a:rPr lang="en" sz="1400" dirty="0">
                <a:solidFill>
                  <a:schemeClr val="tx1">
                    <a:lumMod val="50000"/>
                    <a:lumOff val="50000"/>
                  </a:schemeClr>
                </a:solidFill>
                <a:latin typeface="Arial"/>
              </a:rPr>
              <a:t>e classes sign, pedestrian, bicyclists, and wheeled rider would be helped by finer geometry. These are the small objects whose shapes like thin poles are lost at 1m^3 resolution. A finer voxel grid would preserve the structural difference that coarse voxels merge into one cell.</a:t>
            </a:r>
          </a:p>
        </p:txBody>
      </p:sp>
    </p:spTree>
    <p:extLst>
      <p:ext uri="{BB962C8B-B14F-4D97-AF65-F5344CB8AC3E}">
        <p14:creationId xmlns:p14="http://schemas.microsoft.com/office/powerpoint/2010/main" val="1040003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 sz="2800" b="0" u="none" strike="noStrike">
                <a:solidFill>
                  <a:srgbClr val="000000"/>
                </a:solidFill>
                <a:uFillTx/>
                <a:latin typeface="Arial"/>
                <a:ea typeface="Arial"/>
              </a:rPr>
              <a:t>Part 2: Voxel Baseline Model</a:t>
            </a:r>
            <a:endParaRPr lang="en-US" sz="2800" b="0" u="none" strike="noStrike">
              <a:solidFill>
                <a:srgbClr val="000000"/>
              </a:solidFill>
              <a:uFillTx/>
              <a:latin typeface="Arial"/>
            </a:endParaRPr>
          </a:p>
        </p:txBody>
      </p:sp>
      <p:sp>
        <p:nvSpPr>
          <p:cNvPr id="360" name="PlaceHolder 2"/>
          <p:cNvSpPr>
            <a:spLocks noGrp="1"/>
          </p:cNvSpPr>
          <p:nvPr>
            <p:ph/>
          </p:nvPr>
        </p:nvSpPr>
        <p:spPr>
          <a:xfrm>
            <a:off x="311760" y="1152360"/>
            <a:ext cx="3998160" cy="1818000"/>
          </a:xfrm>
          <a:prstGeom prst="rect">
            <a:avLst/>
          </a:prstGeom>
          <a:noFill/>
          <a:ln w="0">
            <a:noFill/>
          </a:ln>
        </p:spPr>
        <p:txBody>
          <a:bodyPr lIns="0" tIns="91440" rIns="0" bIns="91440" anchor="t">
            <a:normAutofit fontScale="85000" lnSpcReduction="20000"/>
          </a:bodyPr>
          <a:lstStyle/>
          <a:p>
            <a:pPr indent="0">
              <a:lnSpc>
                <a:spcPct val="115000"/>
              </a:lnSpc>
              <a:spcAft>
                <a:spcPts val="1199"/>
              </a:spcAft>
              <a:buNone/>
              <a:tabLst>
                <a:tab pos="0" algn="l"/>
              </a:tabLst>
            </a:pPr>
            <a:r>
              <a:rPr lang="en" sz="1400" b="1" u="none" strike="noStrike" dirty="0">
                <a:solidFill>
                  <a:srgbClr val="595959"/>
                </a:solidFill>
                <a:uFillTx/>
                <a:latin typeface="Arial"/>
                <a:ea typeface="Arial"/>
              </a:rPr>
              <a:t>Which classes does this baseline perform well for? Why?</a:t>
            </a:r>
          </a:p>
          <a:p>
            <a:pPr indent="0">
              <a:lnSpc>
                <a:spcPct val="115000"/>
              </a:lnSpc>
              <a:spcAft>
                <a:spcPts val="1199"/>
              </a:spcAft>
              <a:buNone/>
              <a:tabLst>
                <a:tab pos="0" algn="l"/>
              </a:tabLst>
            </a:pPr>
            <a:r>
              <a:rPr lang="en" sz="1400" u="none" strike="noStrike" dirty="0">
                <a:solidFill>
                  <a:schemeClr val="tx1">
                    <a:lumMod val="50000"/>
                    <a:lumOff val="50000"/>
                  </a:schemeClr>
                </a:solidFill>
                <a:uFillTx/>
                <a:latin typeface="Arial"/>
              </a:rPr>
              <a:t>The baseline works best for large distinct classes like bus, bollard, and construction cone. Since these objects have a unique voxel occupancy pattern – a bus filling many voxels in a large shape, and a bollard filling on</a:t>
            </a:r>
            <a:r>
              <a:rPr lang="en-US" sz="1400" u="none" strike="noStrike" dirty="0" err="1">
                <a:solidFill>
                  <a:schemeClr val="tx1">
                    <a:lumMod val="50000"/>
                    <a:lumOff val="50000"/>
                  </a:schemeClr>
                </a:solidFill>
                <a:uFillTx/>
                <a:latin typeface="Arial"/>
              </a:rPr>
              <a:t>ly</a:t>
            </a:r>
            <a:r>
              <a:rPr lang="en" sz="1400" u="none" strike="noStrike" dirty="0">
                <a:solidFill>
                  <a:schemeClr val="tx1">
                    <a:lumMod val="50000"/>
                    <a:lumOff val="50000"/>
                  </a:schemeClr>
                </a:solidFill>
                <a:uFillTx/>
                <a:latin typeface="Arial"/>
              </a:rPr>
              <a:t> a few voxels in a narrow column, it makes them separable even with coarse voxel features,</a:t>
            </a:r>
            <a:endParaRPr lang="en-US" sz="1400" u="none" strike="noStrike" dirty="0">
              <a:solidFill>
                <a:schemeClr val="tx1">
                  <a:lumMod val="50000"/>
                  <a:lumOff val="50000"/>
                </a:schemeClr>
              </a:solidFill>
              <a:uFillTx/>
              <a:latin typeface="Arial"/>
            </a:endParaRPr>
          </a:p>
        </p:txBody>
      </p:sp>
      <p:sp>
        <p:nvSpPr>
          <p:cNvPr id="361" name="PlaceHolder 3"/>
          <p:cNvSpPr>
            <a:spLocks noGrp="1"/>
          </p:cNvSpPr>
          <p:nvPr>
            <p:ph/>
          </p:nvPr>
        </p:nvSpPr>
        <p:spPr>
          <a:xfrm>
            <a:off x="4832280" y="1152360"/>
            <a:ext cx="3998160" cy="3414600"/>
          </a:xfrm>
          <a:prstGeom prst="rect">
            <a:avLst/>
          </a:prstGeom>
          <a:noFill/>
          <a:ln w="0">
            <a:noFill/>
          </a:ln>
        </p:spPr>
        <p:txBody>
          <a:bodyPr lIns="0" tIns="91440" rIns="0" bIns="91440" anchor="t">
            <a:normAutofit/>
          </a:bodyPr>
          <a:lstStyle/>
          <a:p>
            <a:pPr indent="0">
              <a:lnSpc>
                <a:spcPct val="115000"/>
              </a:lnSpc>
              <a:spcAft>
                <a:spcPts val="1199"/>
              </a:spcAft>
              <a:buNone/>
              <a:tabLst>
                <a:tab pos="0" algn="l"/>
              </a:tabLst>
            </a:pPr>
            <a:r>
              <a:rPr lang="en" sz="1400" b="1" u="none" strike="noStrike" dirty="0">
                <a:solidFill>
                  <a:srgbClr val="595959"/>
                </a:solidFill>
                <a:uFillTx/>
                <a:latin typeface="Arial"/>
                <a:ea typeface="Arial"/>
              </a:rPr>
              <a:t>Which mode (count or occupancy) achieves higher accuracy? Why do you think this is the case?</a:t>
            </a:r>
          </a:p>
          <a:p>
            <a:pPr>
              <a:lnSpc>
                <a:spcPct val="115000"/>
              </a:lnSpc>
              <a:spcAft>
                <a:spcPts val="1199"/>
              </a:spcAft>
              <a:tabLst>
                <a:tab pos="0" algn="l"/>
              </a:tabLst>
            </a:pPr>
            <a:r>
              <a:rPr lang="en" sz="1400" dirty="0">
                <a:solidFill>
                  <a:schemeClr val="tx1">
                    <a:lumMod val="50000"/>
                    <a:lumOff val="50000"/>
                  </a:schemeClr>
                </a:solidFill>
              </a:rPr>
              <a:t>Occupancy mode has a higher accuracy – 50%. Since count mode preserves point density, it’s </a:t>
            </a:r>
            <a:r>
              <a:rPr lang="en" sz="1400" dirty="0" err="1">
                <a:solidFill>
                  <a:schemeClr val="tx1">
                    <a:lumMod val="50000"/>
                    <a:lumOff val="50000"/>
                  </a:schemeClr>
                </a:solidFill>
              </a:rPr>
              <a:t>sens</a:t>
            </a:r>
            <a:r>
              <a:rPr lang="en-US" sz="1400" dirty="0" err="1">
                <a:solidFill>
                  <a:schemeClr val="tx1">
                    <a:lumMod val="50000"/>
                    <a:lumOff val="50000"/>
                  </a:schemeClr>
                </a:solidFill>
              </a:rPr>
              <a:t>i</a:t>
            </a:r>
            <a:r>
              <a:rPr lang="en" sz="1400" dirty="0" err="1">
                <a:solidFill>
                  <a:schemeClr val="tx1">
                    <a:lumMod val="50000"/>
                    <a:lumOff val="50000"/>
                  </a:schemeClr>
                </a:solidFill>
              </a:rPr>
              <a:t>tive</a:t>
            </a:r>
            <a:r>
              <a:rPr lang="en" sz="1400" dirty="0">
                <a:solidFill>
                  <a:schemeClr val="tx1">
                    <a:lumMod val="50000"/>
                    <a:lumOff val="50000"/>
                  </a:schemeClr>
                </a:solidFill>
              </a:rPr>
              <a:t> to the changing number of lidar returns per object. Objects further from the se</a:t>
            </a:r>
            <a:r>
              <a:rPr lang="en-US" sz="1400" dirty="0">
                <a:solidFill>
                  <a:schemeClr val="tx1">
                    <a:lumMod val="50000"/>
                    <a:lumOff val="50000"/>
                  </a:schemeClr>
                </a:solidFill>
              </a:rPr>
              <a:t>ns</a:t>
            </a:r>
            <a:r>
              <a:rPr lang="en" sz="1400" dirty="0">
                <a:solidFill>
                  <a:schemeClr val="tx1">
                    <a:lumMod val="50000"/>
                    <a:lumOff val="50000"/>
                  </a:schemeClr>
                </a:solidFill>
              </a:rPr>
              <a:t>or have fewer returns, making the count features inconsistent for the same class. Binary occupancy makes this varia</a:t>
            </a:r>
            <a:r>
              <a:rPr lang="en-US" sz="1400" dirty="0">
                <a:solidFill>
                  <a:schemeClr val="tx1">
                    <a:lumMod val="50000"/>
                    <a:lumOff val="50000"/>
                  </a:schemeClr>
                </a:solidFill>
              </a:rPr>
              <a:t>t</a:t>
            </a:r>
            <a:r>
              <a:rPr lang="en" sz="1400" dirty="0">
                <a:solidFill>
                  <a:schemeClr val="tx1">
                    <a:lumMod val="50000"/>
                    <a:lumOff val="50000"/>
                  </a:schemeClr>
                </a:solidFill>
              </a:rPr>
              <a:t>ion normalized and gives a stable return across instances.</a:t>
            </a:r>
            <a:endParaRPr lang="en-US" sz="1400" dirty="0">
              <a:solidFill>
                <a:schemeClr val="tx1">
                  <a:lumMod val="50000"/>
                  <a:lumOff val="50000"/>
                </a:schemeClr>
              </a:solidFill>
            </a:endParaRPr>
          </a:p>
          <a:p>
            <a:pPr indent="0">
              <a:lnSpc>
                <a:spcPct val="115000"/>
              </a:lnSpc>
              <a:spcAft>
                <a:spcPts val="1199"/>
              </a:spcAft>
              <a:buNone/>
              <a:tabLst>
                <a:tab pos="0" algn="l"/>
              </a:tabLst>
            </a:pPr>
            <a:endParaRPr lang="en-US" sz="1400" u="none" strike="noStrike" dirty="0">
              <a:solidFill>
                <a:srgbClr val="000000"/>
              </a:solidFill>
              <a:uFillTx/>
              <a:latin typeface="Arial"/>
            </a:endParaRPr>
          </a:p>
        </p:txBody>
      </p:sp>
      <p:sp>
        <p:nvSpPr>
          <p:cNvPr id="362" name="Google Shape;93;p 1"/>
          <p:cNvSpPr/>
          <p:nvPr/>
        </p:nvSpPr>
        <p:spPr>
          <a:xfrm>
            <a:off x="228600" y="3060720"/>
            <a:ext cx="3998160" cy="1818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rmAutofit fontScale="85000" lnSpcReduction="10000"/>
          </a:bodyPr>
          <a:lstStyle/>
          <a:p>
            <a:pPr>
              <a:lnSpc>
                <a:spcPct val="115000"/>
              </a:lnSpc>
              <a:spcAft>
                <a:spcPts val="1199"/>
              </a:spcAft>
              <a:tabLst>
                <a:tab pos="0" algn="l"/>
              </a:tabLst>
            </a:pPr>
            <a:r>
              <a:rPr lang="en" sz="1400" b="1" u="none" strike="noStrike" dirty="0">
                <a:solidFill>
                  <a:srgbClr val="595959"/>
                </a:solidFill>
                <a:uFillTx/>
                <a:latin typeface="Arial"/>
                <a:ea typeface="Arial"/>
              </a:rPr>
              <a:t>What are some ways we can improve this voxel based model?</a:t>
            </a:r>
          </a:p>
          <a:p>
            <a:pPr>
              <a:lnSpc>
                <a:spcPct val="115000"/>
              </a:lnSpc>
              <a:spcAft>
                <a:spcPts val="1199"/>
              </a:spcAft>
              <a:tabLst>
                <a:tab pos="0" algn="l"/>
              </a:tabLst>
            </a:pPr>
            <a:r>
              <a:rPr lang="en-US" sz="1400" u="none" strike="noStrike" dirty="0">
                <a:solidFill>
                  <a:schemeClr val="tx1">
                    <a:lumMod val="50000"/>
                    <a:lumOff val="50000"/>
                  </a:schemeClr>
                </a:solidFill>
                <a:uFillTx/>
                <a:latin typeface="Arial"/>
              </a:rPr>
              <a:t>Improvements could be with things like a finer voxel resolution like 8x8x8 or 16x16x16 to get more geometric detail. Also, a multi resolution voxel grid where coarse and fine features are combined, or replacing the single linear classifier with a deeper MLP.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 sz="2800" b="0" u="none" strike="noStrike" dirty="0">
                <a:solidFill>
                  <a:srgbClr val="000000"/>
                </a:solidFill>
                <a:uFillTx/>
                <a:latin typeface="Arial"/>
                <a:ea typeface="Arial"/>
              </a:rPr>
              <a:t>Part 3: Simplified PointNet</a:t>
            </a:r>
            <a:endParaRPr lang="en-US" sz="2800" b="0" u="none" strike="noStrike" dirty="0">
              <a:solidFill>
                <a:srgbClr val="000000"/>
              </a:solidFill>
              <a:uFillTx/>
              <a:latin typeface="Arial"/>
            </a:endParaRPr>
          </a:p>
        </p:txBody>
      </p:sp>
      <p:sp>
        <p:nvSpPr>
          <p:cNvPr id="364" name="PlaceHolder 2"/>
          <p:cNvSpPr>
            <a:spLocks noGrp="1"/>
          </p:cNvSpPr>
          <p:nvPr>
            <p:ph/>
          </p:nvPr>
        </p:nvSpPr>
        <p:spPr>
          <a:xfrm>
            <a:off x="311761" y="1152360"/>
            <a:ext cx="2611054" cy="3414600"/>
          </a:xfrm>
          <a:prstGeom prst="rect">
            <a:avLst/>
          </a:prstGeom>
          <a:noFill/>
          <a:ln w="0">
            <a:noFill/>
          </a:ln>
        </p:spPr>
        <p:txBody>
          <a:bodyPr lIns="0" tIns="91440" rIns="0" bIns="91440" anchor="t">
            <a:normAutofit/>
          </a:bodyPr>
          <a:lstStyle/>
          <a:p>
            <a:pPr indent="0">
              <a:lnSpc>
                <a:spcPct val="115000"/>
              </a:lnSpc>
              <a:spcAft>
                <a:spcPts val="1199"/>
              </a:spcAft>
              <a:buNone/>
              <a:tabLst>
                <a:tab pos="0" algn="l"/>
              </a:tabLst>
            </a:pPr>
            <a:r>
              <a:rPr lang="en" sz="1400" b="1" dirty="0">
                <a:solidFill>
                  <a:srgbClr val="595959"/>
                </a:solidFill>
                <a:latin typeface="Arial"/>
                <a:ea typeface="Arial"/>
              </a:rPr>
              <a:t>I</a:t>
            </a:r>
            <a:r>
              <a:rPr lang="en" sz="1400" b="1" u="none" strike="noStrike" dirty="0">
                <a:solidFill>
                  <a:srgbClr val="595959"/>
                </a:solidFill>
                <a:uFillTx/>
                <a:latin typeface="Arial"/>
                <a:ea typeface="Arial"/>
              </a:rPr>
              <a:t>nsert confusion matrix for PointNet model on test dataset</a:t>
            </a:r>
            <a:endParaRPr lang="en-US" sz="1400" b="1" u="none" strike="noStrike" dirty="0">
              <a:solidFill>
                <a:srgbClr val="000000"/>
              </a:solidFill>
              <a:uFillTx/>
              <a:latin typeface="Arial"/>
            </a:endParaRPr>
          </a:p>
        </p:txBody>
      </p:sp>
      <p:pic>
        <p:nvPicPr>
          <p:cNvPr id="2" name="Picture 1">
            <a:extLst>
              <a:ext uri="{FF2B5EF4-FFF2-40B4-BE49-F238E27FC236}">
                <a16:creationId xmlns:a16="http://schemas.microsoft.com/office/drawing/2014/main" id="{05924FB4-AA27-5826-0D00-F5D66774E781}"/>
              </a:ext>
            </a:extLst>
          </p:cNvPr>
          <p:cNvPicPr>
            <a:picLocks noChangeAspect="1"/>
          </p:cNvPicPr>
          <p:nvPr/>
        </p:nvPicPr>
        <p:blipFill>
          <a:blip r:embed="rId2"/>
          <a:stretch>
            <a:fillRect/>
          </a:stretch>
        </p:blipFill>
        <p:spPr>
          <a:xfrm>
            <a:off x="2922814" y="955814"/>
            <a:ext cx="4273852" cy="41876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 sz="2800" b="0" u="none" strike="noStrike" dirty="0">
                <a:solidFill>
                  <a:srgbClr val="000000"/>
                </a:solidFill>
                <a:uFillTx/>
                <a:latin typeface="Arial"/>
                <a:ea typeface="Arial"/>
              </a:rPr>
              <a:t>Part 3: Simplified PointNet</a:t>
            </a:r>
            <a:endParaRPr lang="en-US" sz="2800" b="0" u="none" strike="noStrike" dirty="0">
              <a:solidFill>
                <a:srgbClr val="000000"/>
              </a:solidFill>
              <a:uFillTx/>
              <a:latin typeface="Arial"/>
            </a:endParaRPr>
          </a:p>
        </p:txBody>
      </p:sp>
      <p:sp>
        <p:nvSpPr>
          <p:cNvPr id="366" name="PlaceHolder 2"/>
          <p:cNvSpPr>
            <a:spLocks noGrp="1"/>
          </p:cNvSpPr>
          <p:nvPr>
            <p:ph/>
          </p:nvPr>
        </p:nvSpPr>
        <p:spPr>
          <a:xfrm>
            <a:off x="311760" y="1152360"/>
            <a:ext cx="3998160" cy="3414600"/>
          </a:xfrm>
          <a:prstGeom prst="rect">
            <a:avLst/>
          </a:prstGeom>
          <a:noFill/>
          <a:ln w="0">
            <a:noFill/>
          </a:ln>
        </p:spPr>
        <p:txBody>
          <a:bodyPr lIns="0" tIns="91440" rIns="0" bIns="91440" anchor="t">
            <a:normAutofit/>
          </a:bodyPr>
          <a:lstStyle/>
          <a:p>
            <a:pPr indent="0">
              <a:lnSpc>
                <a:spcPct val="115000"/>
              </a:lnSpc>
              <a:spcAft>
                <a:spcPts val="1199"/>
              </a:spcAft>
              <a:buNone/>
              <a:tabLst>
                <a:tab pos="0" algn="l"/>
              </a:tabLst>
            </a:pPr>
            <a:r>
              <a:rPr lang="en" sz="1400" b="1" u="none" strike="noStrike" dirty="0">
                <a:solidFill>
                  <a:srgbClr val="595959"/>
                </a:solidFill>
                <a:uFillTx/>
                <a:latin typeface="Arial"/>
                <a:ea typeface="Arial"/>
              </a:rPr>
              <a:t>Which classes does this model perform well for? Why?</a:t>
            </a:r>
          </a:p>
          <a:p>
            <a:pPr indent="0">
              <a:lnSpc>
                <a:spcPct val="115000"/>
              </a:lnSpc>
              <a:spcAft>
                <a:spcPts val="1199"/>
              </a:spcAft>
              <a:buNone/>
              <a:tabLst>
                <a:tab pos="0" algn="l"/>
              </a:tabLst>
            </a:pPr>
            <a:r>
              <a:rPr lang="en" sz="1400" dirty="0">
                <a:solidFill>
                  <a:schemeClr val="tx1">
                    <a:lumMod val="50000"/>
                    <a:lumOff val="50000"/>
                  </a:schemeClr>
                </a:solidFill>
                <a:latin typeface="Arial"/>
              </a:rPr>
              <a:t>PointNet does well for geometrically distinct classes like bollard, sign, construction cone and regular vehicle. These classes have unique point cloud shapes – bollards with their thin vertical cylinders, signs with flat rectangular surfaces, and vehicles with box like structures. </a:t>
            </a:r>
            <a:r>
              <a:rPr lang="en" sz="1400" dirty="0" err="1">
                <a:solidFill>
                  <a:schemeClr val="tx1">
                    <a:lumMod val="50000"/>
                    <a:lumOff val="50000"/>
                  </a:schemeClr>
                </a:solidFill>
                <a:latin typeface="Arial"/>
              </a:rPr>
              <a:t>PointNet’s</a:t>
            </a:r>
            <a:r>
              <a:rPr lang="en" sz="1400" dirty="0">
                <a:solidFill>
                  <a:schemeClr val="tx1">
                    <a:lumMod val="50000"/>
                    <a:lumOff val="50000"/>
                  </a:schemeClr>
                </a:solidFill>
                <a:latin typeface="Arial"/>
              </a:rPr>
              <a:t> per-point MLP gets these local geometric features more effectively than voxel counts.</a:t>
            </a:r>
            <a:endParaRPr lang="en-US" sz="1400" u="none" strike="noStrike" dirty="0">
              <a:solidFill>
                <a:schemeClr val="tx1">
                  <a:lumMod val="50000"/>
                  <a:lumOff val="50000"/>
                </a:schemeClr>
              </a:solidFill>
              <a:uFillTx/>
              <a:latin typeface="Arial"/>
            </a:endParaRPr>
          </a:p>
        </p:txBody>
      </p:sp>
      <p:sp>
        <p:nvSpPr>
          <p:cNvPr id="367" name="PlaceHolder 3"/>
          <p:cNvSpPr>
            <a:spLocks noGrp="1"/>
          </p:cNvSpPr>
          <p:nvPr>
            <p:ph/>
          </p:nvPr>
        </p:nvSpPr>
        <p:spPr>
          <a:xfrm>
            <a:off x="4832280" y="1152360"/>
            <a:ext cx="3998160" cy="3414600"/>
          </a:xfrm>
          <a:prstGeom prst="rect">
            <a:avLst/>
          </a:prstGeom>
          <a:noFill/>
          <a:ln w="0">
            <a:noFill/>
          </a:ln>
        </p:spPr>
        <p:txBody>
          <a:bodyPr lIns="0" tIns="91440" rIns="0" bIns="91440" anchor="t">
            <a:normAutofit/>
          </a:bodyPr>
          <a:lstStyle/>
          <a:p>
            <a:pPr indent="0">
              <a:lnSpc>
                <a:spcPct val="115000"/>
              </a:lnSpc>
              <a:spcAft>
                <a:spcPts val="1199"/>
              </a:spcAft>
              <a:buNone/>
              <a:tabLst>
                <a:tab pos="0" algn="l"/>
              </a:tabLst>
            </a:pPr>
            <a:r>
              <a:rPr lang="en" sz="1400" b="1" u="none" strike="noStrike" dirty="0" err="1">
                <a:solidFill>
                  <a:srgbClr val="595959"/>
                </a:solidFill>
                <a:uFillTx/>
                <a:latin typeface="Arial"/>
                <a:ea typeface="Arial"/>
              </a:rPr>
              <a:t>Wh</a:t>
            </a:r>
            <a:r>
              <a:rPr lang="en-US" sz="1400" b="1" u="none" strike="noStrike" dirty="0" err="1">
                <a:solidFill>
                  <a:srgbClr val="595959"/>
                </a:solidFill>
                <a:uFillTx/>
                <a:latin typeface="Arial"/>
                <a:ea typeface="Arial"/>
              </a:rPr>
              <a:t>ic</a:t>
            </a:r>
            <a:r>
              <a:rPr lang="en" sz="1400" b="1" u="none" strike="noStrike" dirty="0">
                <a:solidFill>
                  <a:srgbClr val="595959"/>
                </a:solidFill>
                <a:uFillTx/>
                <a:latin typeface="Arial"/>
                <a:ea typeface="Arial"/>
              </a:rPr>
              <a:t>h classes are </a:t>
            </a:r>
            <a:r>
              <a:rPr lang="en-US" sz="1400" b="1" u="none" strike="noStrike" dirty="0">
                <a:solidFill>
                  <a:srgbClr val="595959"/>
                </a:solidFill>
                <a:uFillTx/>
                <a:latin typeface="Arial"/>
                <a:ea typeface="Arial"/>
              </a:rPr>
              <a:t>most misclassified</a:t>
            </a:r>
            <a:r>
              <a:rPr lang="en" sz="1400" b="1" u="none" strike="noStrike" dirty="0">
                <a:solidFill>
                  <a:srgbClr val="595959"/>
                </a:solidFill>
                <a:uFillTx/>
                <a:latin typeface="Arial"/>
                <a:ea typeface="Arial"/>
              </a:rPr>
              <a:t>? What were they classified as and why do you think this is the case?</a:t>
            </a:r>
          </a:p>
          <a:p>
            <a:pPr indent="0">
              <a:lnSpc>
                <a:spcPct val="115000"/>
              </a:lnSpc>
              <a:spcAft>
                <a:spcPts val="1199"/>
              </a:spcAft>
              <a:buNone/>
              <a:tabLst>
                <a:tab pos="0" algn="l"/>
              </a:tabLst>
            </a:pPr>
            <a:r>
              <a:rPr lang="en" sz="1400" u="none" strike="noStrike" dirty="0">
                <a:solidFill>
                  <a:schemeClr val="tx1">
                    <a:lumMod val="50000"/>
                    <a:lumOff val="50000"/>
                  </a:schemeClr>
                </a:solidFill>
                <a:uFillTx/>
                <a:latin typeface="Arial"/>
              </a:rPr>
              <a:t>The most misclassified classes are wheeled rider, bus, large vehicle, and pedestrian. Wheeled rider is confused with bicyclist and motorcyclist </a:t>
            </a:r>
            <a:r>
              <a:rPr lang="en" sz="1400" u="none" strike="noStrike" dirty="0" err="1">
                <a:solidFill>
                  <a:schemeClr val="tx1">
                    <a:lumMod val="50000"/>
                    <a:lumOff val="50000"/>
                  </a:schemeClr>
                </a:solidFill>
                <a:uFillTx/>
                <a:latin typeface="Arial"/>
              </a:rPr>
              <a:t>bec</a:t>
            </a:r>
            <a:r>
              <a:rPr lang="en-US" sz="1400" u="none" strike="noStrike" dirty="0">
                <a:solidFill>
                  <a:schemeClr val="tx1">
                    <a:lumMod val="50000"/>
                    <a:lumOff val="50000"/>
                  </a:schemeClr>
                </a:solidFill>
                <a:uFillTx/>
                <a:latin typeface="Arial"/>
              </a:rPr>
              <a:t>au</a:t>
            </a:r>
            <a:r>
              <a:rPr lang="en" sz="1400" u="none" strike="noStrike" dirty="0">
                <a:solidFill>
                  <a:schemeClr val="tx1">
                    <a:lumMod val="50000"/>
                    <a:lumOff val="50000"/>
                  </a:schemeClr>
                </a:solidFill>
                <a:uFillTx/>
                <a:latin typeface="Arial"/>
              </a:rPr>
              <a:t>se of its similar point patterns. Bus is misclassified with large vehicle and truck since all large vehicles </a:t>
            </a:r>
            <a:r>
              <a:rPr lang="en-US" sz="1400" u="none" strike="noStrike" dirty="0">
                <a:solidFill>
                  <a:schemeClr val="tx1">
                    <a:lumMod val="50000"/>
                    <a:lumOff val="50000"/>
                  </a:schemeClr>
                </a:solidFill>
                <a:uFillTx/>
                <a:latin typeface="Arial"/>
              </a:rPr>
              <a:t>ha</a:t>
            </a:r>
            <a:r>
              <a:rPr lang="en" sz="1400" u="none" strike="noStrike" dirty="0" err="1">
                <a:solidFill>
                  <a:schemeClr val="tx1">
                    <a:lumMod val="50000"/>
                    <a:lumOff val="50000"/>
                  </a:schemeClr>
                </a:solidFill>
                <a:uFillTx/>
                <a:latin typeface="Arial"/>
              </a:rPr>
              <a:t>ve</a:t>
            </a:r>
            <a:r>
              <a:rPr lang="en" sz="1400" u="none" strike="noStrike" dirty="0">
                <a:solidFill>
                  <a:schemeClr val="tx1">
                    <a:lumMod val="50000"/>
                    <a:lumOff val="50000"/>
                  </a:schemeClr>
                </a:solidFill>
                <a:uFillTx/>
                <a:latin typeface="Arial"/>
              </a:rPr>
              <a:t> dense box shaped clouds. Pedestrians is confused with bicyclists since they have similar heights and point density.</a:t>
            </a:r>
            <a:endParaRPr lang="en-US" sz="1400" u="none" strike="noStrike" dirty="0">
              <a:solidFill>
                <a:schemeClr val="tx1">
                  <a:lumMod val="50000"/>
                  <a:lumOff val="50000"/>
                </a:schemeClr>
              </a:solidFill>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 sz="2800" b="0" u="none" strike="noStrike" dirty="0">
                <a:solidFill>
                  <a:srgbClr val="000000"/>
                </a:solidFill>
                <a:uFillTx/>
                <a:latin typeface="Arial"/>
                <a:ea typeface="Arial"/>
              </a:rPr>
              <a:t>Part 3: Simplified PointNet</a:t>
            </a:r>
            <a:endParaRPr lang="en-US" sz="2800" b="0" u="none" strike="noStrike" dirty="0">
              <a:solidFill>
                <a:srgbClr val="000000"/>
              </a:solidFill>
              <a:uFillTx/>
              <a:latin typeface="Arial"/>
            </a:endParaRPr>
          </a:p>
        </p:txBody>
      </p:sp>
      <p:sp>
        <p:nvSpPr>
          <p:cNvPr id="366" name="PlaceHolder 2"/>
          <p:cNvSpPr>
            <a:spLocks noGrp="1"/>
          </p:cNvSpPr>
          <p:nvPr>
            <p:ph/>
          </p:nvPr>
        </p:nvSpPr>
        <p:spPr>
          <a:xfrm>
            <a:off x="311760" y="1152360"/>
            <a:ext cx="3998160" cy="3414600"/>
          </a:xfrm>
          <a:prstGeom prst="rect">
            <a:avLst/>
          </a:prstGeom>
          <a:noFill/>
          <a:ln w="0">
            <a:noFill/>
          </a:ln>
        </p:spPr>
        <p:txBody>
          <a:bodyPr lIns="0" tIns="91440" rIns="0" bIns="91440" anchor="t">
            <a:normAutofit/>
          </a:bodyPr>
          <a:lstStyle/>
          <a:p>
            <a:pPr indent="0">
              <a:lnSpc>
                <a:spcPct val="115000"/>
              </a:lnSpc>
              <a:spcAft>
                <a:spcPts val="1199"/>
              </a:spcAft>
              <a:buNone/>
              <a:tabLst>
                <a:tab pos="0" algn="l"/>
              </a:tabLst>
            </a:pPr>
            <a:r>
              <a:rPr lang="en" sz="1400" b="1" u="none" strike="noStrike" dirty="0">
                <a:solidFill>
                  <a:srgbClr val="595959"/>
                </a:solidFill>
                <a:uFillTx/>
                <a:latin typeface="Arial"/>
                <a:ea typeface="Arial"/>
              </a:rPr>
              <a:t>What changes in the architecture or training process can be done to improve performance?</a:t>
            </a:r>
          </a:p>
          <a:p>
            <a:pPr>
              <a:lnSpc>
                <a:spcPct val="115000"/>
              </a:lnSpc>
              <a:spcAft>
                <a:spcPts val="1199"/>
              </a:spcAft>
              <a:tabLst>
                <a:tab pos="0" algn="l"/>
              </a:tabLst>
            </a:pPr>
            <a:r>
              <a:rPr lang="en-US" sz="1400" dirty="0">
                <a:solidFill>
                  <a:schemeClr val="tx1">
                    <a:lumMod val="50000"/>
                    <a:lumOff val="50000"/>
                  </a:schemeClr>
                </a:solidFill>
              </a:rPr>
              <a:t>Architectural improvements could be wider hidden dimensions, adding dropout to the classifier for regularization, and using the T-Net input transform for rotation invariance. Training improvements would be things like training for more epochs, using a cosine learning rate scheduler, adding weight decay, or applying data augmentation like random point jitter.</a:t>
            </a:r>
          </a:p>
          <a:p>
            <a:pPr indent="0">
              <a:lnSpc>
                <a:spcPct val="115000"/>
              </a:lnSpc>
              <a:spcAft>
                <a:spcPts val="1199"/>
              </a:spcAft>
              <a:buNone/>
              <a:tabLst>
                <a:tab pos="0" algn="l"/>
              </a:tabLst>
            </a:pPr>
            <a:endParaRPr lang="en-US" sz="1400" u="none" strike="noStrike" dirty="0">
              <a:solidFill>
                <a:srgbClr val="000000"/>
              </a:solidFill>
              <a:uFillTx/>
              <a:latin typeface="Arial"/>
            </a:endParaRPr>
          </a:p>
        </p:txBody>
      </p:sp>
      <p:sp>
        <p:nvSpPr>
          <p:cNvPr id="367" name="PlaceHolder 3"/>
          <p:cNvSpPr>
            <a:spLocks noGrp="1"/>
          </p:cNvSpPr>
          <p:nvPr>
            <p:ph/>
          </p:nvPr>
        </p:nvSpPr>
        <p:spPr>
          <a:xfrm>
            <a:off x="4832280" y="1152360"/>
            <a:ext cx="3998160" cy="3414600"/>
          </a:xfrm>
          <a:prstGeom prst="rect">
            <a:avLst/>
          </a:prstGeom>
          <a:noFill/>
          <a:ln w="0">
            <a:noFill/>
          </a:ln>
        </p:spPr>
        <p:txBody>
          <a:bodyPr lIns="0" tIns="91440" rIns="0" bIns="91440" anchor="t">
            <a:normAutofit lnSpcReduction="10000"/>
          </a:bodyPr>
          <a:lstStyle/>
          <a:p>
            <a:pPr indent="0">
              <a:lnSpc>
                <a:spcPct val="115000"/>
              </a:lnSpc>
              <a:spcAft>
                <a:spcPts val="1199"/>
              </a:spcAft>
              <a:buNone/>
              <a:tabLst>
                <a:tab pos="0" algn="l"/>
              </a:tabLst>
            </a:pPr>
            <a:r>
              <a:rPr lang="en-US" sz="1400" b="1" u="none" strike="noStrike" dirty="0">
                <a:solidFill>
                  <a:srgbClr val="595959"/>
                </a:solidFill>
                <a:uFillTx/>
                <a:latin typeface="Arial"/>
                <a:ea typeface="Arial"/>
              </a:rPr>
              <a:t>Did the top confusion pair in the matrix remain the same as in Part 2? Why or why not?</a:t>
            </a:r>
          </a:p>
          <a:p>
            <a:pPr>
              <a:lnSpc>
                <a:spcPct val="115000"/>
              </a:lnSpc>
              <a:spcAft>
                <a:spcPts val="1199"/>
              </a:spcAft>
              <a:tabLst>
                <a:tab pos="0" algn="l"/>
              </a:tabLst>
            </a:pPr>
            <a:r>
              <a:rPr lang="en-US" sz="1400" dirty="0">
                <a:solidFill>
                  <a:schemeClr val="tx1">
                    <a:lumMod val="50000"/>
                    <a:lumOff val="50000"/>
                  </a:schemeClr>
                </a:solidFill>
              </a:rPr>
              <a:t>The top confusion pairs somewhat changed. In Part 2, regular vehicle/large vehicle was the main confusion because they had similar voxel occupancy. PointNet eased this confusion since it captures per-point geometry. However, bus/large vehicle and wheeled rider/bicyclist are still confused because these classes are geometrically similar at the individual point level, and no amount of per-point processing can fully fix this without having more context.</a:t>
            </a:r>
          </a:p>
          <a:p>
            <a:pPr indent="0">
              <a:lnSpc>
                <a:spcPct val="115000"/>
              </a:lnSpc>
              <a:spcAft>
                <a:spcPts val="1199"/>
              </a:spcAft>
              <a:buNone/>
              <a:tabLst>
                <a:tab pos="0" algn="l"/>
              </a:tabLst>
            </a:pPr>
            <a:endParaRPr lang="en-US" sz="1400" u="none" strike="noStrike" dirty="0">
              <a:solidFill>
                <a:srgbClr val="000000"/>
              </a:solidFill>
              <a:uFillTx/>
              <a:latin typeface="Arial"/>
            </a:endParaRPr>
          </a:p>
        </p:txBody>
      </p:sp>
    </p:spTree>
    <p:extLst>
      <p:ext uri="{BB962C8B-B14F-4D97-AF65-F5344CB8AC3E}">
        <p14:creationId xmlns:p14="http://schemas.microsoft.com/office/powerpoint/2010/main" val="3360304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 sz="2800" b="0" u="none" strike="noStrike">
                <a:solidFill>
                  <a:srgbClr val="000000"/>
                </a:solidFill>
                <a:uFillTx/>
                <a:latin typeface="Arial"/>
                <a:ea typeface="Arial"/>
              </a:rPr>
              <a:t>Part 4: Analysis</a:t>
            </a:r>
            <a:endParaRPr lang="en-US" sz="2800" b="0" u="none" strike="noStrike">
              <a:solidFill>
                <a:srgbClr val="000000"/>
              </a:solidFill>
              <a:uFillTx/>
              <a:latin typeface="Arial"/>
            </a:endParaRPr>
          </a:p>
        </p:txBody>
      </p:sp>
      <p:sp>
        <p:nvSpPr>
          <p:cNvPr id="369" name="PlaceHolder 2"/>
          <p:cNvSpPr>
            <a:spLocks noGrp="1"/>
          </p:cNvSpPr>
          <p:nvPr>
            <p:ph/>
          </p:nvPr>
        </p:nvSpPr>
        <p:spPr>
          <a:xfrm>
            <a:off x="311760" y="1152360"/>
            <a:ext cx="8518680" cy="3414600"/>
          </a:xfrm>
          <a:prstGeom prst="rect">
            <a:avLst/>
          </a:prstGeom>
          <a:noFill/>
          <a:ln w="0">
            <a:noFill/>
          </a:ln>
        </p:spPr>
        <p:txBody>
          <a:bodyPr lIns="0" tIns="91440" rIns="0" bIns="91440" anchor="t">
            <a:normAutofit/>
          </a:bodyPr>
          <a:lstStyle/>
          <a:p>
            <a:pPr indent="0">
              <a:lnSpc>
                <a:spcPct val="115000"/>
              </a:lnSpc>
              <a:spcAft>
                <a:spcPts val="1199"/>
              </a:spcAft>
              <a:buNone/>
              <a:tabLst>
                <a:tab pos="0" algn="l"/>
              </a:tabLst>
            </a:pPr>
            <a:r>
              <a:rPr lang="en" sz="1400" b="1" u="none" strike="noStrike" dirty="0">
                <a:solidFill>
                  <a:srgbClr val="595959"/>
                </a:solidFill>
                <a:uFillTx/>
                <a:latin typeface="Arial"/>
                <a:ea typeface="Arial"/>
              </a:rPr>
              <a:t>insert visualization of critical points on the PEDESTRIAN/11.txt point cloud</a:t>
            </a:r>
            <a:endParaRPr lang="en-US" sz="1400" b="1" u="none" strike="noStrike" dirty="0">
              <a:solidFill>
                <a:srgbClr val="000000"/>
              </a:solidFill>
              <a:uFillTx/>
              <a:latin typeface="Arial"/>
            </a:endParaRPr>
          </a:p>
        </p:txBody>
      </p:sp>
      <p:pic>
        <p:nvPicPr>
          <p:cNvPr id="3" name="Picture 2">
            <a:extLst>
              <a:ext uri="{FF2B5EF4-FFF2-40B4-BE49-F238E27FC236}">
                <a16:creationId xmlns:a16="http://schemas.microsoft.com/office/drawing/2014/main" id="{72CD330B-C852-35DD-4A2E-150290E37D79}"/>
              </a:ext>
            </a:extLst>
          </p:cNvPr>
          <p:cNvPicPr>
            <a:picLocks noChangeAspect="1"/>
          </p:cNvPicPr>
          <p:nvPr/>
        </p:nvPicPr>
        <p:blipFill>
          <a:blip r:embed="rId2"/>
          <a:stretch>
            <a:fillRect/>
          </a:stretch>
        </p:blipFill>
        <p:spPr>
          <a:xfrm>
            <a:off x="1402450" y="1651000"/>
            <a:ext cx="6337300" cy="32131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US" sz="2800" b="0" u="none" strike="noStrike">
                <a:solidFill>
                  <a:srgbClr val="000000"/>
                </a:solidFill>
                <a:uFillTx/>
                <a:latin typeface="Arial"/>
                <a:ea typeface="Arial"/>
              </a:rPr>
              <a:t>Part 4: Analysis</a:t>
            </a:r>
            <a:endParaRPr lang="en-US" sz="2800" b="0" u="none" strike="noStrike">
              <a:solidFill>
                <a:srgbClr val="000000"/>
              </a:solidFill>
              <a:uFillTx/>
              <a:latin typeface="Arial"/>
            </a:endParaRPr>
          </a:p>
        </p:txBody>
      </p:sp>
      <p:sp>
        <p:nvSpPr>
          <p:cNvPr id="371" name="PlaceHolder 2"/>
          <p:cNvSpPr>
            <a:spLocks noGrp="1"/>
          </p:cNvSpPr>
          <p:nvPr>
            <p:ph/>
          </p:nvPr>
        </p:nvSpPr>
        <p:spPr>
          <a:xfrm>
            <a:off x="311760" y="1152360"/>
            <a:ext cx="3852026" cy="3414600"/>
          </a:xfrm>
          <a:prstGeom prst="rect">
            <a:avLst/>
          </a:prstGeom>
          <a:noFill/>
          <a:ln w="0">
            <a:noFill/>
          </a:ln>
        </p:spPr>
        <p:txBody>
          <a:bodyPr lIns="0" tIns="91440" rIns="0" bIns="91440" anchor="t">
            <a:noAutofit/>
          </a:bodyPr>
          <a:lstStyle/>
          <a:p>
            <a:pPr marL="114480" indent="0">
              <a:lnSpc>
                <a:spcPct val="115000"/>
              </a:lnSpc>
              <a:buNone/>
              <a:tabLst>
                <a:tab pos="0" algn="l"/>
              </a:tabLst>
            </a:pPr>
            <a:r>
              <a:rPr lang="en-US" sz="1400" b="1" u="none" strike="noStrike" dirty="0">
                <a:solidFill>
                  <a:srgbClr val="595959"/>
                </a:solidFill>
                <a:uFillTx/>
                <a:latin typeface="Arial"/>
                <a:ea typeface="Arial"/>
              </a:rPr>
              <a:t>insert visualization critical points on one other point cloud, why would it make sense for these to be selected as critical points?</a:t>
            </a:r>
            <a:endParaRPr lang="en-US" sz="1400" b="1" u="none" strike="noStrike" dirty="0">
              <a:solidFill>
                <a:srgbClr val="000000"/>
              </a:solidFill>
              <a:uFillTx/>
              <a:latin typeface="Arial"/>
            </a:endParaRPr>
          </a:p>
          <a:p>
            <a:pPr marL="114480" indent="0">
              <a:lnSpc>
                <a:spcPct val="115000"/>
              </a:lnSpc>
              <a:buNone/>
              <a:tabLst>
                <a:tab pos="0" algn="l"/>
              </a:tabLst>
            </a:pPr>
            <a:r>
              <a:rPr lang="en-US" sz="1200" dirty="0">
                <a:solidFill>
                  <a:schemeClr val="tx1">
                    <a:lumMod val="50000"/>
                    <a:lumOff val="50000"/>
                  </a:schemeClr>
                </a:solidFill>
              </a:rPr>
              <a:t>For regular vehicle, the critical points are along the roof edges, corners, and side mirrors of the vehicle. These edge and boundary points are the most distinctive features of a vehicle because they show the overall bounding shape and dimensions. It makes sense for the model to pick these points since they have the most discriminative information about the object's class, and interior points on flat surfaces are less informative.</a:t>
            </a:r>
          </a:p>
          <a:p>
            <a:pPr marL="114480" indent="0">
              <a:lnSpc>
                <a:spcPct val="115000"/>
              </a:lnSpc>
              <a:buNone/>
              <a:tabLst>
                <a:tab pos="0" algn="l"/>
              </a:tabLst>
            </a:pPr>
            <a:endParaRPr lang="en-US" sz="1800" b="0" u="none" strike="noStrike" dirty="0">
              <a:solidFill>
                <a:srgbClr val="000000"/>
              </a:solidFill>
              <a:uFillTx/>
              <a:latin typeface="Arial"/>
            </a:endParaRPr>
          </a:p>
        </p:txBody>
      </p:sp>
      <p:pic>
        <p:nvPicPr>
          <p:cNvPr id="2" name="Picture 1">
            <a:extLst>
              <a:ext uri="{FF2B5EF4-FFF2-40B4-BE49-F238E27FC236}">
                <a16:creationId xmlns:a16="http://schemas.microsoft.com/office/drawing/2014/main" id="{189EAF8B-C540-5129-E92C-2FD445900F81}"/>
              </a:ext>
            </a:extLst>
          </p:cNvPr>
          <p:cNvPicPr>
            <a:picLocks noChangeAspect="1"/>
          </p:cNvPicPr>
          <p:nvPr/>
        </p:nvPicPr>
        <p:blipFill>
          <a:blip r:embed="rId2"/>
          <a:stretch>
            <a:fillRect/>
          </a:stretch>
        </p:blipFill>
        <p:spPr>
          <a:xfrm>
            <a:off x="4163786" y="1357416"/>
            <a:ext cx="4980214" cy="2535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311760" y="169647"/>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US" sz="2800" b="0" u="none" strike="noStrike" dirty="0">
                <a:solidFill>
                  <a:srgbClr val="000000"/>
                </a:solidFill>
                <a:uFillTx/>
                <a:latin typeface="Arial"/>
                <a:ea typeface="Arial"/>
              </a:rPr>
              <a:t>Part 4: Analysis</a:t>
            </a:r>
            <a:endParaRPr lang="en-US" sz="2800" b="0" u="none" strike="noStrike" dirty="0">
              <a:solidFill>
                <a:srgbClr val="000000"/>
              </a:solidFill>
              <a:uFillTx/>
              <a:latin typeface="Arial"/>
            </a:endParaRPr>
          </a:p>
        </p:txBody>
      </p:sp>
      <p:sp>
        <p:nvSpPr>
          <p:cNvPr id="371" name="PlaceHolder 2"/>
          <p:cNvSpPr>
            <a:spLocks noGrp="1"/>
          </p:cNvSpPr>
          <p:nvPr>
            <p:ph/>
          </p:nvPr>
        </p:nvSpPr>
        <p:spPr>
          <a:xfrm>
            <a:off x="311760" y="696926"/>
            <a:ext cx="8518680" cy="415183"/>
          </a:xfrm>
          <a:prstGeom prst="rect">
            <a:avLst/>
          </a:prstGeom>
          <a:noFill/>
          <a:ln w="0">
            <a:noFill/>
          </a:ln>
        </p:spPr>
        <p:txBody>
          <a:bodyPr lIns="0" tIns="91440" rIns="0" bIns="91440" anchor="t">
            <a:noAutofit/>
          </a:bodyPr>
          <a:lstStyle/>
          <a:p>
            <a:pPr marL="114480" indent="0">
              <a:lnSpc>
                <a:spcPct val="115000"/>
              </a:lnSpc>
              <a:buNone/>
              <a:tabLst>
                <a:tab pos="0" algn="l"/>
              </a:tabLst>
            </a:pPr>
            <a:r>
              <a:rPr lang="en-US" sz="1400" b="1" u="none" strike="noStrike" dirty="0">
                <a:solidFill>
                  <a:srgbClr val="595959"/>
                </a:solidFill>
                <a:uFillTx/>
                <a:latin typeface="Arial"/>
                <a:ea typeface="Arial"/>
              </a:rPr>
              <a:t>Plot critical points for two more classes which are misclassified</a:t>
            </a:r>
            <a:endParaRPr lang="en-US" sz="1400" b="1" u="none" strike="noStrike" dirty="0">
              <a:solidFill>
                <a:srgbClr val="000000"/>
              </a:solidFill>
              <a:uFillTx/>
              <a:latin typeface="Arial"/>
            </a:endParaRPr>
          </a:p>
          <a:p>
            <a:pPr marL="114480" indent="0">
              <a:lnSpc>
                <a:spcPct val="115000"/>
              </a:lnSpc>
              <a:buNone/>
              <a:tabLst>
                <a:tab pos="0" algn="l"/>
              </a:tabLst>
            </a:pPr>
            <a:endParaRPr lang="en-US" sz="1800" b="0" u="none" strike="noStrike" dirty="0">
              <a:solidFill>
                <a:srgbClr val="000000"/>
              </a:solidFill>
              <a:uFillTx/>
              <a:latin typeface="Arial"/>
            </a:endParaRPr>
          </a:p>
        </p:txBody>
      </p:sp>
      <p:pic>
        <p:nvPicPr>
          <p:cNvPr id="2" name="Picture 1">
            <a:extLst>
              <a:ext uri="{FF2B5EF4-FFF2-40B4-BE49-F238E27FC236}">
                <a16:creationId xmlns:a16="http://schemas.microsoft.com/office/drawing/2014/main" id="{949CD73E-E140-6BA6-72B3-07A3AB2D6CB2}"/>
              </a:ext>
            </a:extLst>
          </p:cNvPr>
          <p:cNvPicPr>
            <a:picLocks noChangeAspect="1"/>
          </p:cNvPicPr>
          <p:nvPr/>
        </p:nvPicPr>
        <p:blipFill>
          <a:blip r:embed="rId2"/>
          <a:stretch>
            <a:fillRect/>
          </a:stretch>
        </p:blipFill>
        <p:spPr>
          <a:xfrm>
            <a:off x="186385" y="1469571"/>
            <a:ext cx="4186447" cy="2139368"/>
          </a:xfrm>
          <a:prstGeom prst="rect">
            <a:avLst/>
          </a:prstGeom>
        </p:spPr>
      </p:pic>
      <p:pic>
        <p:nvPicPr>
          <p:cNvPr id="3" name="Picture 2">
            <a:extLst>
              <a:ext uri="{FF2B5EF4-FFF2-40B4-BE49-F238E27FC236}">
                <a16:creationId xmlns:a16="http://schemas.microsoft.com/office/drawing/2014/main" id="{AE0B32DB-D617-ECE9-10DA-58148EC99A64}"/>
              </a:ext>
            </a:extLst>
          </p:cNvPr>
          <p:cNvPicPr>
            <a:picLocks noChangeAspect="1"/>
          </p:cNvPicPr>
          <p:nvPr/>
        </p:nvPicPr>
        <p:blipFill>
          <a:blip r:embed="rId3"/>
          <a:stretch>
            <a:fillRect/>
          </a:stretch>
        </p:blipFill>
        <p:spPr>
          <a:xfrm>
            <a:off x="4372832" y="2571750"/>
            <a:ext cx="4457605" cy="2287101"/>
          </a:xfrm>
          <a:prstGeom prst="rect">
            <a:avLst/>
          </a:prstGeom>
        </p:spPr>
      </p:pic>
      <p:sp>
        <p:nvSpPr>
          <p:cNvPr id="4" name="TextBox 3">
            <a:extLst>
              <a:ext uri="{FF2B5EF4-FFF2-40B4-BE49-F238E27FC236}">
                <a16:creationId xmlns:a16="http://schemas.microsoft.com/office/drawing/2014/main" id="{6858E80E-1726-03FD-4EB2-D8796FE7CD3A}"/>
              </a:ext>
            </a:extLst>
          </p:cNvPr>
          <p:cNvSpPr txBox="1"/>
          <p:nvPr/>
        </p:nvSpPr>
        <p:spPr>
          <a:xfrm>
            <a:off x="186386" y="3739243"/>
            <a:ext cx="3879428" cy="1446550"/>
          </a:xfrm>
          <a:prstGeom prst="rect">
            <a:avLst/>
          </a:prstGeom>
          <a:noFill/>
        </p:spPr>
        <p:txBody>
          <a:bodyPr wrap="square" rtlCol="0">
            <a:spAutoFit/>
          </a:bodyPr>
          <a:lstStyle/>
          <a:p>
            <a:r>
              <a:rPr lang="en-US" sz="1400" dirty="0">
                <a:solidFill>
                  <a:schemeClr val="tx1">
                    <a:lumMod val="50000"/>
                    <a:lumOff val="50000"/>
                  </a:schemeClr>
                </a:solidFill>
              </a:rPr>
              <a:t>Wheeled rider: Critical points are sparse and scattered with no clear pattern, which is why it gets confused with bicyclist, since both are small upright sparse clouds with no distinctive anchor points.</a:t>
            </a:r>
          </a:p>
          <a:p>
            <a:endParaRPr lang="en-US" dirty="0"/>
          </a:p>
        </p:txBody>
      </p:sp>
      <p:sp>
        <p:nvSpPr>
          <p:cNvPr id="5" name="TextBox 4">
            <a:extLst>
              <a:ext uri="{FF2B5EF4-FFF2-40B4-BE49-F238E27FC236}">
                <a16:creationId xmlns:a16="http://schemas.microsoft.com/office/drawing/2014/main" id="{09145E16-1B06-6FF0-655B-B94A058877E5}"/>
              </a:ext>
            </a:extLst>
          </p:cNvPr>
          <p:cNvSpPr txBox="1"/>
          <p:nvPr/>
        </p:nvSpPr>
        <p:spPr>
          <a:xfrm>
            <a:off x="4771169" y="1118654"/>
            <a:ext cx="4186445" cy="1231106"/>
          </a:xfrm>
          <a:prstGeom prst="rect">
            <a:avLst/>
          </a:prstGeom>
          <a:noFill/>
        </p:spPr>
        <p:txBody>
          <a:bodyPr wrap="square" rtlCol="0">
            <a:spAutoFit/>
          </a:bodyPr>
          <a:lstStyle/>
          <a:p>
            <a:r>
              <a:rPr lang="en-US" sz="1400" dirty="0">
                <a:solidFill>
                  <a:schemeClr val="tx1">
                    <a:lumMod val="50000"/>
                    <a:lumOff val="50000"/>
                  </a:schemeClr>
                </a:solidFill>
              </a:rPr>
              <a:t>BUS: Critical points cluster on large flat side surfaces shared with large vehicle and truck. Since all these big vehicles fill the box similarly, the model can't find features unique to buses.</a:t>
            </a:r>
          </a:p>
          <a:p>
            <a:endParaRPr lang="en-US" b="1" dirty="0"/>
          </a:p>
        </p:txBody>
      </p:sp>
    </p:spTree>
    <p:extLst>
      <p:ext uri="{BB962C8B-B14F-4D97-AF65-F5344CB8AC3E}">
        <p14:creationId xmlns:p14="http://schemas.microsoft.com/office/powerpoint/2010/main" val="3143268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indent="0">
              <a:lnSpc>
                <a:spcPct val="100000"/>
              </a:lnSpc>
              <a:buNone/>
              <a:tabLst>
                <a:tab pos="0" algn="l"/>
              </a:tabLst>
            </a:pPr>
            <a:r>
              <a:rPr lang="en" sz="2800" b="0" u="none" strike="noStrike" dirty="0">
                <a:solidFill>
                  <a:srgbClr val="000000"/>
                </a:solidFill>
                <a:uFillTx/>
                <a:latin typeface="Arial"/>
                <a:ea typeface="Arial"/>
              </a:rPr>
              <a:t>Part 5: PointNet + T-Net (Extra Credit)</a:t>
            </a:r>
            <a:endParaRPr lang="en-US" sz="2800" b="0" u="none" strike="noStrike" dirty="0">
              <a:solidFill>
                <a:srgbClr val="000000"/>
              </a:solidFill>
              <a:uFillTx/>
              <a:latin typeface="Arial"/>
            </a:endParaRPr>
          </a:p>
        </p:txBody>
      </p:sp>
      <p:sp>
        <p:nvSpPr>
          <p:cNvPr id="373" name="PlaceHolder 2"/>
          <p:cNvSpPr>
            <a:spLocks noGrp="1"/>
          </p:cNvSpPr>
          <p:nvPr>
            <p:ph/>
          </p:nvPr>
        </p:nvSpPr>
        <p:spPr>
          <a:xfrm>
            <a:off x="311760" y="1152360"/>
            <a:ext cx="2235497" cy="3414600"/>
          </a:xfrm>
          <a:prstGeom prst="rect">
            <a:avLst/>
          </a:prstGeom>
          <a:noFill/>
          <a:ln w="0">
            <a:noFill/>
          </a:ln>
        </p:spPr>
        <p:txBody>
          <a:bodyPr lIns="0" tIns="91440" rIns="0" bIns="91440" anchor="t">
            <a:normAutofit/>
          </a:bodyPr>
          <a:lstStyle/>
          <a:p>
            <a:pPr indent="0">
              <a:lnSpc>
                <a:spcPct val="115000"/>
              </a:lnSpc>
              <a:spcAft>
                <a:spcPts val="1199"/>
              </a:spcAft>
              <a:buNone/>
              <a:tabLst>
                <a:tab pos="0" algn="l"/>
              </a:tabLst>
            </a:pPr>
            <a:r>
              <a:rPr lang="en" sz="1400" b="1" u="none" strike="noStrike" dirty="0">
                <a:solidFill>
                  <a:srgbClr val="595959"/>
                </a:solidFill>
                <a:uFillTx/>
                <a:latin typeface="Arial"/>
                <a:ea typeface="Arial"/>
              </a:rPr>
              <a:t>insert confusion matrix for PointNet with T-Net on test dataset</a:t>
            </a:r>
            <a:endParaRPr lang="en-US" sz="1400" b="1" u="none" strike="noStrike" dirty="0">
              <a:solidFill>
                <a:srgbClr val="000000"/>
              </a:solidFill>
              <a:uFillTx/>
              <a:latin typeface="Arial"/>
            </a:endParaRPr>
          </a:p>
        </p:txBody>
      </p:sp>
      <p:pic>
        <p:nvPicPr>
          <p:cNvPr id="2" name="Picture 1">
            <a:extLst>
              <a:ext uri="{FF2B5EF4-FFF2-40B4-BE49-F238E27FC236}">
                <a16:creationId xmlns:a16="http://schemas.microsoft.com/office/drawing/2014/main" id="{6C87DEFE-3943-1095-A0A3-E0FBDBA96CAE}"/>
              </a:ext>
            </a:extLst>
          </p:cNvPr>
          <p:cNvPicPr>
            <a:picLocks noChangeAspect="1"/>
          </p:cNvPicPr>
          <p:nvPr/>
        </p:nvPicPr>
        <p:blipFill>
          <a:blip r:embed="rId2"/>
          <a:stretch>
            <a:fillRect/>
          </a:stretch>
        </p:blipFill>
        <p:spPr>
          <a:xfrm>
            <a:off x="3123404" y="1152360"/>
            <a:ext cx="4073262" cy="39911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PlaceHolder 1"/>
          <p:cNvSpPr>
            <a:spLocks noGrp="1"/>
          </p:cNvSpPr>
          <p:nvPr>
            <p:ph type="title"/>
          </p:nvPr>
        </p:nvSpPr>
        <p:spPr>
          <a:xfrm>
            <a:off x="311760" y="444960"/>
            <a:ext cx="8518680" cy="570960"/>
          </a:xfrm>
          <a:prstGeom prst="rect">
            <a:avLst/>
          </a:prstGeom>
          <a:noFill/>
          <a:ln w="0">
            <a:noFill/>
          </a:ln>
        </p:spPr>
        <p:txBody>
          <a:bodyPr lIns="0" tIns="91440" rIns="0" bIns="91440" anchor="t">
            <a:normAutofit fontScale="90000"/>
          </a:bodyPr>
          <a:lstStyle/>
          <a:p>
            <a:pPr>
              <a:lnSpc>
                <a:spcPct val="100000"/>
              </a:lnSpc>
              <a:tabLst>
                <a:tab pos="0" algn="l"/>
              </a:tabLst>
            </a:pPr>
            <a:r>
              <a:rPr lang="en" sz="2800" b="0" u="none" strike="noStrike" dirty="0">
                <a:solidFill>
                  <a:srgbClr val="000000"/>
                </a:solidFill>
                <a:uFillTx/>
                <a:latin typeface="Arial"/>
                <a:ea typeface="Arial"/>
              </a:rPr>
              <a:t>Part 5: PointNet + T-Net</a:t>
            </a:r>
            <a:r>
              <a:rPr lang="en" sz="2800" dirty="0">
                <a:solidFill>
                  <a:srgbClr val="000000"/>
                </a:solidFill>
                <a:latin typeface="Arial"/>
                <a:ea typeface="Arial"/>
              </a:rPr>
              <a:t> (Extra Credit)</a:t>
            </a:r>
            <a:endParaRPr lang="en-US" sz="2800" b="0" u="none" strike="noStrike" dirty="0">
              <a:solidFill>
                <a:srgbClr val="000000"/>
              </a:solidFill>
              <a:uFillTx/>
              <a:latin typeface="Arial"/>
            </a:endParaRPr>
          </a:p>
        </p:txBody>
      </p:sp>
      <p:sp>
        <p:nvSpPr>
          <p:cNvPr id="375" name="PlaceHolder 2"/>
          <p:cNvSpPr>
            <a:spLocks noGrp="1"/>
          </p:cNvSpPr>
          <p:nvPr>
            <p:ph/>
          </p:nvPr>
        </p:nvSpPr>
        <p:spPr>
          <a:xfrm>
            <a:off x="311760" y="1152360"/>
            <a:ext cx="3998160" cy="3414600"/>
          </a:xfrm>
          <a:prstGeom prst="rect">
            <a:avLst/>
          </a:prstGeom>
          <a:noFill/>
          <a:ln w="0">
            <a:noFill/>
          </a:ln>
        </p:spPr>
        <p:txBody>
          <a:bodyPr lIns="0" tIns="91440" rIns="0" bIns="91440" anchor="t">
            <a:normAutofit/>
          </a:bodyPr>
          <a:lstStyle/>
          <a:p>
            <a:pPr indent="0">
              <a:lnSpc>
                <a:spcPct val="115000"/>
              </a:lnSpc>
              <a:spcAft>
                <a:spcPts val="1199"/>
              </a:spcAft>
              <a:buNone/>
              <a:tabLst>
                <a:tab pos="0" algn="l"/>
              </a:tabLst>
            </a:pPr>
            <a:r>
              <a:rPr lang="en" sz="1400" b="1" u="none" strike="noStrike" dirty="0">
                <a:solidFill>
                  <a:srgbClr val="595959"/>
                </a:solidFill>
                <a:uFillTx/>
                <a:latin typeface="Arial"/>
                <a:ea typeface="Arial"/>
              </a:rPr>
              <a:t>What is the motivation behind using T-Net in PointNet?</a:t>
            </a:r>
          </a:p>
          <a:p>
            <a:pPr indent="0">
              <a:lnSpc>
                <a:spcPct val="115000"/>
              </a:lnSpc>
              <a:spcAft>
                <a:spcPts val="1199"/>
              </a:spcAft>
              <a:buNone/>
              <a:tabLst>
                <a:tab pos="0" algn="l"/>
              </a:tabLst>
            </a:pPr>
            <a:r>
              <a:rPr lang="en-US" sz="1500" dirty="0" err="1">
                <a:solidFill>
                  <a:schemeClr val="tx1">
                    <a:lumMod val="50000"/>
                    <a:lumOff val="50000"/>
                  </a:schemeClr>
                </a:solidFill>
              </a:rPr>
              <a:t>PointNet's</a:t>
            </a:r>
            <a:r>
              <a:rPr lang="en-US" sz="1500" dirty="0">
                <a:solidFill>
                  <a:schemeClr val="tx1">
                    <a:lumMod val="50000"/>
                    <a:lumOff val="50000"/>
                  </a:schemeClr>
                </a:solidFill>
              </a:rPr>
              <a:t> encoder is an MLP with max pooling, which doesn’t have a built-in invariance to spatial transformations. Objects of the same class show up in different orientations depending on where they are relative to the sensor. T-Net fixes this by learning a 3x3 transformation matrix from the input point cloud and applying it to change the orientation before classification.</a:t>
            </a:r>
            <a:endParaRPr lang="en-US" sz="1400" u="none" strike="noStrike" dirty="0">
              <a:solidFill>
                <a:srgbClr val="000000"/>
              </a:solidFill>
              <a:uFillTx/>
              <a:latin typeface="Arial"/>
            </a:endParaRPr>
          </a:p>
        </p:txBody>
      </p:sp>
      <p:sp>
        <p:nvSpPr>
          <p:cNvPr id="376" name="Google Shape;93;p6"/>
          <p:cNvSpPr/>
          <p:nvPr/>
        </p:nvSpPr>
        <p:spPr>
          <a:xfrm>
            <a:off x="4832280" y="1152360"/>
            <a:ext cx="3998160" cy="34146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rmAutofit fontScale="92500" lnSpcReduction="10000"/>
          </a:bodyPr>
          <a:lstStyle/>
          <a:p>
            <a:pPr>
              <a:lnSpc>
                <a:spcPct val="115000"/>
              </a:lnSpc>
              <a:spcAft>
                <a:spcPts val="1199"/>
              </a:spcAft>
            </a:pPr>
            <a:r>
              <a:rPr lang="en-US" sz="1400" b="1" u="none" strike="noStrike" dirty="0">
                <a:solidFill>
                  <a:srgbClr val="595959"/>
                </a:solidFill>
                <a:uFillTx/>
                <a:latin typeface="Arial"/>
                <a:ea typeface="Arial"/>
              </a:rPr>
              <a:t>Which classes saw the most improvement from including T-Net? Why do you think this is the case?</a:t>
            </a:r>
          </a:p>
          <a:p>
            <a:pPr>
              <a:lnSpc>
                <a:spcPct val="115000"/>
              </a:lnSpc>
              <a:spcAft>
                <a:spcPts val="1199"/>
              </a:spcAft>
            </a:pPr>
            <a:r>
              <a:rPr lang="en-US" sz="1500" dirty="0">
                <a:solidFill>
                  <a:schemeClr val="tx1">
                    <a:lumMod val="50000"/>
                    <a:lumOff val="50000"/>
                  </a:schemeClr>
                </a:solidFill>
              </a:rPr>
              <a:t>Classes that benefit the most from T-Net are those whose point clouds vary in orientation, like pedestrian, wheeled rider, and bicyclists. These objects can face any direction relative to the sensor, so their point clouds do vary in orientation. T-Net aligns them before PointNet processes them, reducing the variance the classifier has to handle. Large symmetric objects like bus or bollard don’t benefit as much because their point clouds look similar regardless of the rotation.</a:t>
            </a:r>
            <a:endParaRPr lang="en-US" sz="1500" u="none" strike="noStrike" dirty="0">
              <a:solidFill>
                <a:schemeClr val="tx1">
                  <a:lumMod val="50000"/>
                  <a:lumOff val="50000"/>
                </a:schemeClr>
              </a:solidFill>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TotalTime>
  <Words>1226</Words>
  <Application>Microsoft Macintosh PowerPoint</Application>
  <PresentationFormat>On-screen Show (16:9)</PresentationFormat>
  <Paragraphs>50</Paragraphs>
  <Slides>12</Slides>
  <Notes>0</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12</vt:i4>
      </vt:variant>
    </vt:vector>
  </HeadingPairs>
  <TitlesOfParts>
    <vt:vector size="20" baseType="lpstr">
      <vt:lpstr>Arial</vt:lpstr>
      <vt:lpstr>Symbol</vt:lpstr>
      <vt:lpstr>Times New Roman</vt:lpstr>
      <vt:lpstr>Wingdings</vt:lpstr>
      <vt:lpstr>Office Theme</vt:lpstr>
      <vt:lpstr>Office Theme</vt:lpstr>
      <vt:lpstr>Office Theme</vt:lpstr>
      <vt:lpstr>Office Theme</vt:lpstr>
      <vt:lpstr>PowerPoint Presentation</vt:lpstr>
      <vt:lpstr>Part 2: Voxel Baseline Model</vt:lpstr>
      <vt:lpstr>Part 2: Voxel Baseline Model</vt:lpstr>
      <vt:lpstr>Part 2: Voxel Baseline Model</vt:lpstr>
      <vt:lpstr>Part 3: Simplified PointNet</vt:lpstr>
      <vt:lpstr>Part 3: Simplified PointNet</vt:lpstr>
      <vt:lpstr>Part 3: Simplified PointNet</vt:lpstr>
      <vt:lpstr>Part 4: Analysis</vt:lpstr>
      <vt:lpstr>Part 4: Analysis</vt:lpstr>
      <vt:lpstr>Part 4: Analysis</vt:lpstr>
      <vt:lpstr>Part 5: PointNet + T-Net (Extra Credit)</vt:lpstr>
      <vt:lpstr>Part 5: PointNet + T-Net (Extra Credit)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dc:description/>
  <cp:lastModifiedBy>Manasvi, Archita A</cp:lastModifiedBy>
  <cp:revision>8</cp:revision>
  <dcterms:modified xsi:type="dcterms:W3CDTF">2026-04-17T19:02:23Z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8</vt:i4>
  </property>
  <property fmtid="{D5CDD505-2E9C-101B-9397-08002B2CF9AE}" pid="3" name="PresentationFormat">
    <vt:lpwstr>On-screen Show (16:9)</vt:lpwstr>
  </property>
  <property fmtid="{D5CDD505-2E9C-101B-9397-08002B2CF9AE}" pid="4" name="Slides">
    <vt:i4>9</vt:i4>
  </property>
</Properties>
</file>